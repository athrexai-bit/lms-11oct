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a7a9a1b0a43f1" /><Relationship Type="http://schemas.openxmlformats.org/officeDocument/2006/relationships/extended-properties" Target="/docProps/app.xml" Id="Rc61a9c2bfb89485d" /><Relationship Type="http://schemas.openxmlformats.org/officeDocument/2006/relationships/officeDocument" Target="/ppt/presentation.xml" Id="R60a03406872c46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50602c2624af1"/>
  </p:sldMasterIdLst>
  <p:notesMasterIdLst>
    <p:notesMasterId xmlns:r="http://schemas.openxmlformats.org/officeDocument/2006/relationships" r:id="Rbff8f8c8052842e5"/>
  </p:notesMasterIdLst>
  <p:sldIdLst>
    <p:sldId xmlns:r="http://schemas.openxmlformats.org/officeDocument/2006/relationships" id="256" r:id="Refbfdb4f8e0d487c"/>
    <p:sldId xmlns:r="http://schemas.openxmlformats.org/officeDocument/2006/relationships" id="257" r:id="R599b13e802bc4874"/>
    <p:sldId xmlns:r="http://schemas.openxmlformats.org/officeDocument/2006/relationships" id="258" r:id="R3620485a16fb4366"/>
    <p:sldId xmlns:r="http://schemas.openxmlformats.org/officeDocument/2006/relationships" id="259" r:id="R04fe1771997c418a"/>
    <p:sldId xmlns:r="http://schemas.openxmlformats.org/officeDocument/2006/relationships" id="260" r:id="Rb2a07ffc32b7495b"/>
    <p:sldId xmlns:r="http://schemas.openxmlformats.org/officeDocument/2006/relationships" id="261" r:id="R44f5d574e26345b7"/>
    <p:sldId xmlns:r="http://schemas.openxmlformats.org/officeDocument/2006/relationships" id="262" r:id="R438cfe838170493b"/>
    <p:sldId xmlns:r="http://schemas.openxmlformats.org/officeDocument/2006/relationships" id="263" r:id="R6397893c30384923"/>
    <p:sldId xmlns:r="http://schemas.openxmlformats.org/officeDocument/2006/relationships" id="264" r:id="R5ab12fb4490f4c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46cb786f2448f5" /><Relationship Type="http://schemas.openxmlformats.org/officeDocument/2006/relationships/slideMaster" Target="/ppt/slideMasters/slideMaster1.xml" Id="R15c50602c2624af1" /><Relationship Type="http://schemas.openxmlformats.org/officeDocument/2006/relationships/notesMaster" Target="/ppt/notesMasters/notesMaster1.xml" Id="Rbff8f8c8052842e5" /><Relationship Type="http://schemas.openxmlformats.org/officeDocument/2006/relationships/presProps" Target="/ppt/presProps.xml" Id="R4d0375460c5d4706" /><Relationship Type="http://schemas.openxmlformats.org/officeDocument/2006/relationships/tableStyles" Target="/ppt/tableStyles.xml" Id="Rb262e2bf236744d7" /><Relationship Type="http://schemas.openxmlformats.org/officeDocument/2006/relationships/slide" Target="/ppt/slides/slide1.xml" Id="Refbfdb4f8e0d487c" /><Relationship Type="http://schemas.openxmlformats.org/officeDocument/2006/relationships/slide" Target="/ppt/slides/slide2.xml" Id="R599b13e802bc4874" /><Relationship Type="http://schemas.openxmlformats.org/officeDocument/2006/relationships/slide" Target="/ppt/slides/slide3.xml" Id="R3620485a16fb4366" /><Relationship Type="http://schemas.openxmlformats.org/officeDocument/2006/relationships/slide" Target="/ppt/slides/slide4.xml" Id="R04fe1771997c418a" /><Relationship Type="http://schemas.openxmlformats.org/officeDocument/2006/relationships/slide" Target="/ppt/slides/slide5.xml" Id="Rb2a07ffc32b7495b" /><Relationship Type="http://schemas.openxmlformats.org/officeDocument/2006/relationships/slide" Target="/ppt/slides/slide6.xml" Id="R44f5d574e26345b7" /><Relationship Type="http://schemas.openxmlformats.org/officeDocument/2006/relationships/slide" Target="/ppt/slides/slide7.xml" Id="R438cfe838170493b" /><Relationship Type="http://schemas.openxmlformats.org/officeDocument/2006/relationships/slide" Target="/ppt/slides/slide8.xml" Id="R6397893c30384923" /><Relationship Type="http://schemas.openxmlformats.org/officeDocument/2006/relationships/slide" Target="/ppt/slides/slide9.xml" Id="R5ab12fb4490f4c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5fa64ea4d4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791f7361204158" /><Relationship Type="http://schemas.openxmlformats.org/officeDocument/2006/relationships/notesMaster" Target="/ppt/notesMasters/notesMaster1.xml" Id="R0f5a6c81532a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322dafa8f94778" /><Relationship Type="http://schemas.openxmlformats.org/officeDocument/2006/relationships/notesMaster" Target="/ppt/notesMasters/notesMaster1.xml" Id="R03bf1766c85c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ac9094e5e7427a" /><Relationship Type="http://schemas.openxmlformats.org/officeDocument/2006/relationships/notesMaster" Target="/ppt/notesMasters/notesMaster1.xml" Id="R4813b649474b45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c961d882724309" /><Relationship Type="http://schemas.openxmlformats.org/officeDocument/2006/relationships/notesMaster" Target="/ppt/notesMasters/notesMaster1.xml" Id="Rbdad4232336e43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7ac7fdef2840d9" /><Relationship Type="http://schemas.openxmlformats.org/officeDocument/2006/relationships/notesMaster" Target="/ppt/notesMasters/notesMaster1.xml" Id="R9ebbdb47728d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276d4e1a34e91" /><Relationship Type="http://schemas.openxmlformats.org/officeDocument/2006/relationships/notesMaster" Target="/ppt/notesMasters/notesMaster1.xml" Id="R815a7a6bf138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54eab2c3f6401a" /><Relationship Type="http://schemas.openxmlformats.org/officeDocument/2006/relationships/notesMaster" Target="/ppt/notesMasters/notesMaster1.xml" Id="R4f3e964e147b44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0ada9e2412487d" /><Relationship Type="http://schemas.openxmlformats.org/officeDocument/2006/relationships/notesMaster" Target="/ppt/notesMasters/notesMaster1.xml" Id="R6801d04a35a446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ae58eb4e1c4757" /><Relationship Type="http://schemas.openxmlformats.org/officeDocument/2006/relationships/notesMaster" Target="/ppt/notesMasters/notesMaster1.xml" Id="R676e0e40f4cc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deck uses AGI as a conceptual target, not a claim that it has already been achieved.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 note: There is no universally accepted test for AGI. Treat this as a practical framing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point: Agentic AI can execute multi-step tasks, but that alone does not establish general intelligence.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moves the conversation away from a single benchmark and toward reliable behavior in real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AGI will automatically create these outcomes. Benefits depend on product design, governance, and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is illustrative. It shows how broad reasoning could augment a complex workflow without giving the system autonomous clinical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design principle: match automation authority to risk. Lower-risk coordination can be more automated than clinical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staged rollout, a defined baseline, independent review, and clear stop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discussion question. Avoid predicting a timeline for AGI; focus on responsible capability building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bd0b43de844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318f8cfc34e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d7bc4064948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8ddfb225647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7f09d306749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3f2441b6c46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52E75-1F2D-426A-92FB-A0099B42A7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324CBD-06D8-4257-B28C-07998379D0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B53DED-ACBF-45B8-BDAA-DB9898F39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A529CA-5B80-43E4-86EF-05923DE67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07D15C-C274-4D5D-9D9E-80B24D5D5E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91306A-7F28-4668-AF58-1FA642197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D4592-C52B-4112-8D66-8C712A39E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BAA2D2-8A98-4FB6-BC1F-8F8B4FF967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D9541-E12C-469D-9D42-0CA2BAE8C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5A8471-3331-4A58-8BD7-450C6F7AF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b0553fbeee4b8c" /><Relationship Type="http://schemas.openxmlformats.org/officeDocument/2006/relationships/slideLayout" Target="/ppt/slideLayouts/slideLayout1.xml" Id="R4d9a4c6b6db745cd" /><Relationship Type="http://schemas.openxmlformats.org/officeDocument/2006/relationships/slideLayout" Target="/ppt/slideLayouts/slideLayout2.xml" Id="R4fb1c9819b2a43d9" /><Relationship Type="http://schemas.openxmlformats.org/officeDocument/2006/relationships/slideLayout" Target="/ppt/slideLayouts/slideLayout3.xml" Id="R5f36e4b8cfc74583" /><Relationship Type="http://schemas.openxmlformats.org/officeDocument/2006/relationships/slideLayout" Target="/ppt/slideLayouts/slideLayout4.xml" Id="Rba33e220ab4d4325" /><Relationship Type="http://schemas.openxmlformats.org/officeDocument/2006/relationships/slideLayout" Target="/ppt/slideLayouts/slideLayout5.xml" Id="R2e4bb58f23524ee9" /><Relationship Type="http://schemas.openxmlformats.org/officeDocument/2006/relationships/slideLayout" Target="/ppt/slideLayouts/slideLayout6.xml" Id="R8e43964c98b1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a4c6b6db745cd"/>
    <p:sldLayoutId xmlns:r="http://schemas.openxmlformats.org/officeDocument/2006/relationships" id="2147483650" r:id="R4fb1c9819b2a43d9"/>
    <p:sldLayoutId xmlns:r="http://schemas.openxmlformats.org/officeDocument/2006/relationships" id="2147483651" r:id="R5f36e4b8cfc74583"/>
    <p:sldLayoutId xmlns:r="http://schemas.openxmlformats.org/officeDocument/2006/relationships" id="2147483652" r:id="Rba33e220ab4d4325"/>
    <p:sldLayoutId xmlns:r="http://schemas.openxmlformats.org/officeDocument/2006/relationships" id="2147483653" r:id="R2e4bb58f23524ee9"/>
    <p:sldLayoutId xmlns:r="http://schemas.openxmlformats.org/officeDocument/2006/relationships" id="2147483654" r:id="R8e43964c98b1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0134c72194e5b" /><Relationship Type="http://schemas.openxmlformats.org/officeDocument/2006/relationships/notesSlide" Target="/ppt/notesSlides/notesSlide1.xml" Id="R5d0769f1722648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a2280da624c25" /><Relationship Type="http://schemas.openxmlformats.org/officeDocument/2006/relationships/notesSlide" Target="/ppt/notesSlides/notesSlide2.xml" Id="R4fbfe61e400a49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7b58c83954173" /><Relationship Type="http://schemas.openxmlformats.org/officeDocument/2006/relationships/notesSlide" Target="/ppt/notesSlides/notesSlide3.xml" Id="R6cc94d602a28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7da50fc154f9d" /><Relationship Type="http://schemas.openxmlformats.org/officeDocument/2006/relationships/notesSlide" Target="/ppt/notesSlides/notesSlide4.xml" Id="Rcff0e0397a5a46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cc4004efa4c12" /><Relationship Type="http://schemas.openxmlformats.org/officeDocument/2006/relationships/notesSlide" Target="/ppt/notesSlides/notesSlide5.xml" Id="R00b46e3ae3f6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f5e67641d4d46" /><Relationship Type="http://schemas.openxmlformats.org/officeDocument/2006/relationships/notesSlide" Target="/ppt/notesSlides/notesSlide6.xml" Id="R575d86ab13ba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c310849f643ca" /><Relationship Type="http://schemas.openxmlformats.org/officeDocument/2006/relationships/notesSlide" Target="/ppt/notesSlides/notesSlide7.xml" Id="Rfd1a733406ac49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df3102afc439c" /><Relationship Type="http://schemas.openxmlformats.org/officeDocument/2006/relationships/notesSlide" Target="/ppt/notesSlides/notesSlide8.xml" Id="R1118c26443354e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fe46d445c448e" /><Relationship Type="http://schemas.openxmlformats.org/officeDocument/2006/relationships/notesSlide" Target="/ppt/notesSlides/notesSlide9.xml" Id="R66f06b7ce8ac43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FC307-6211-4ABD-A394-B8712A0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DC6D8"/>
                </a:solidFill>
              </a:defRPr>
            </a:pPr>
            <a:r>
              <a:rPr sz="1125" b="1">
                <a:solidFill>
                  <a:srgbClr val="1DC6D8"/>
                </a:solidFill>
              </a:rPr>
              <a:t>INTRODUCTION 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0FF9B-70DC-4DD8-9369-FF7258F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Artificial General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2510-7F9D-4FD9-B12B-CF54116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F3"/>
                </a:solidFill>
              </a:defRPr>
            </a:pPr>
            <a:r>
              <a:rPr sz="1650" b="0">
                <a:solidFill>
                  <a:srgbClr val="C8D9F3"/>
                </a:solidFill>
              </a:rPr>
              <a:t>What AGI means, how it differs from today’s AI, and a practical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7C095-96E4-4C2E-83C3-08F7582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A5FDD-11DC-4559-A779-F316A84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CF6D4"/>
                </a:solidFill>
              </a:defRPr>
            </a:pPr>
            <a:r>
              <a:rPr sz="1050" b="1">
                <a:solidFill>
                  <a:srgbClr val="BCF6D4"/>
                </a:solidFill>
              </a:rPr>
              <a:t>A concise primer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01C75-38AA-4700-966C-9046ED5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44E1-AAB1-4EF0-B411-E237496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384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F991C-8734-4D23-A201-EC80AFBA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956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7B087-8AE2-41F2-BF40-95AD678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5272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DBE70-D7A1-4286-810B-73C15995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ED2DD-F0CF-4416-8C24-9DE04772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707A-C9FF-43E7-B529-96F25450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5ABF2-5B24-4DCA-8E9C-96D8FC3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81A3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1A3A"/>
                </a:solidFill>
              </a:defRPr>
            </a:pPr>
            <a:r>
              <a:rPr sz="1275" b="1">
                <a:solidFill>
                  <a:srgbClr val="081A3A"/>
                </a:solidFill>
              </a:rPr>
              <a:t>AGI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6F907-E8F3-4B08-BB0C-B6282C1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C8D9F3"/>
                </a:solidFill>
              </a:defRPr>
            </a:pPr>
            <a:r>
              <a:rPr sz="975" b="0">
                <a:solidFill>
                  <a:srgbClr val="C8D9F3"/>
                </a:solidFill>
              </a:rPr>
              <a:t>Case study: hospital operations assistant</a:t>
            </a:r>
          </a:p>
        </p:txBody>
      </p:sp>
    </p:spTree>
    <p:extLst>
      <p:ext uri="{BB962C8B-B14F-4D97-AF65-F5344CB8AC3E}">
        <p14:creationId xmlns:p14="http://schemas.microsoft.com/office/powerpoint/2010/main" val="600704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F01B-BDE5-4402-BC72-19BD1D9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FD825-16C6-4C3B-9AED-E972880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What does “AGI” mean?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F06F4-B372-4821-B82F-AB57BDA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A useful working definition focuses on breadth, adaptation, and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9F10-4B25-44D8-B8B1-B3F5C00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B548D-7DC2-4466-8AC1-49AEA58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AGI describes a hypothetical AI system that can learn and apply knowledge across many domains at a level comparable to a capable human.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ECEA8-C036-4234-9488-90D3EF9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DCA9C-C99F-48DB-9F39-CC7A040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Broad competence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9C6B-A17F-433C-A52B-21FF5E3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Works across unfamiliar tasks, not one narrow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4B38E-2876-4F1E-8AA6-8746419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05C45-EB6B-4C9C-AD7B-FA587EB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Learning and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DF849-A348-4381-B1B1-22738BC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Uses prior knowledge to solve a new problem with little extra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80BC4-762C-45AA-8AE6-2C01ABE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FFE25-9BF8-433E-986F-E8C38071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Reasoned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98C97-A6E5-4A82-8D3A-A62B7B3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Plans, uses tools, and checks its work against real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A321C-E614-4304-AE70-6987B05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02</a:t>
            </a:r>
          </a:p>
        </p:txBody>
      </p:sp>
    </p:spTree>
    <p:extLst>
      <p:ext uri="{BB962C8B-B14F-4D97-AF65-F5344CB8AC3E}">
        <p14:creationId xmlns:p14="http://schemas.microsoft.com/office/powerpoint/2010/main" val="213858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7AAB1-85B6-452A-8F42-61D491F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5B5AC-DA45-409C-9A98-F49147E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The AI capability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ABED4-3C05-45A0-B6D6-1158E7B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Today’s systems can be highly capable without meeting a broad AGI definition.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85E5E-3338-4875-B564-92081B3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42BB-ADF3-46DB-9B11-59837488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D8537-5F0C-4FAA-B4AE-B112D1B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Narrow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A2F8C-4A1A-4A9E-B0D5-768FAEC4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Detects patterns in a defined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5D07D-B51D-45C7-A5C3-D780B5A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Spam filters</a:t>
            </a:r>
          </a:p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Image classifiers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38253-10F5-4D82-A5D4-920ACB7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BD9D4-EF71-4D95-8FAA-59D5019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DF209-AA59-4332-8072-3AD93D2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C032A-1C0E-48A7-885A-EE0815C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Creates and transforms content from prompts.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D274D-6A61-4012-B207-AEBEEC0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Chatbots</a:t>
            </a:r>
          </a:p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Code assistants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69BD9-533C-4254-A88B-F8987D7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708E6-A690-4255-9FE8-208B8A8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A7E0E-00F7-451B-9691-79CAA7B2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Agentic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2B054-5466-4E02-9EFF-EBB84D9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Pursues a goal through tools and multi-step workflows.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217E0-E723-44FA-A222-CC101FF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Research and operations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744AC-F4F6-4286-B9AC-A35C723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A34F7-657B-42F2-AE64-243CB1A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0">
            <a:solidFill>
              <a:srgbClr val="E5FAF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FDA2F-DE3C-472A-AD7F-263EE97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5BFF"/>
                </a:solidFill>
              </a:defRPr>
            </a:pPr>
            <a:r>
              <a:rPr sz="1500" b="1">
                <a:solidFill>
                  <a:srgbClr val="175BFF"/>
                </a:solidFill>
              </a:rPr>
              <a:t>AGI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21C8B-0AEC-4F67-A855-CA7BBDE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Generalizes across domains and adapts reliably to novelty.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26791-21E8-4F2F-AA94-D1CB69B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5BFF"/>
                </a:solidFill>
              </a:defRPr>
            </a:pPr>
            <a:r>
              <a:rPr sz="1050" b="1">
                <a:solidFill>
                  <a:srgbClr val="175BFF"/>
                </a:solidFill>
              </a:rPr>
              <a:t>Hypothetical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41508-A044-49F8-83AB-59AFE074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03</a:t>
            </a:r>
          </a:p>
        </p:txBody>
      </p:sp>
    </p:spTree>
    <p:extLst>
      <p:ext uri="{BB962C8B-B14F-4D97-AF65-F5344CB8AC3E}">
        <p14:creationId xmlns:p14="http://schemas.microsoft.com/office/powerpoint/2010/main" val="2043083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26768-3C07-41CC-BBC8-1FD70DDD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970CF-5F0C-4AF0-A128-FEAF5C4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Capabilities an AGI system would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5781-AB75-4473-AD25-57C9E18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The challenge is not just intelligence in isolation. It is dependable performance in changing environments.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ADF9-9419-4193-9F57-D6911E6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0F61C-C68D-4EE1-8DFF-38CD5E2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4302-C25A-446B-B258-7B38A46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063C-040F-4119-AE0E-CB240F38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A9A1-A578-4D22-B08C-999B791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Understand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26A95-50DE-4983-A39D-E4FAF4D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Interpret goals, constraints, uncertainty, and social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6B89C-E494-4372-9CD1-6178E1E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9075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84B34-0308-446D-92E9-E70AFB6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1CFA2-FFDB-4472-889B-B038AAE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AE6F4-A0D3-4ED4-B272-3910E93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Learn continuously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BE702-351E-46DA-AE35-AD6A61A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67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Update knowledge without losing prior capabilities.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26B91-FB58-4481-89F5-05F9D57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6C182-5CF0-4723-9549-E5EE5A00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F3E4E-EE02-4E49-BE61-6CB11E4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F4F58-CB34-439A-A5BC-8C5BA3A9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52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Transfer 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130F7-C4BB-4D2B-A593-461826A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Apply a method learned in one domain to another domain.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1DC37-DCC6-49C8-8775-98F61BAE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81375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43E7B-B9EE-40C1-BDFA-F83109A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9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E26E6-F8D7-48D2-ACC6-AE0E001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052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253CF-E7F8-46BE-B4D8-DB27A0F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52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Plan and 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CE90E-061D-4C88-AD2E-05D693C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57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Break goals into steps, use tools, and recover from failure.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D9C83-6584-4F57-AB66-30B84AD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62721-C536-4DD2-ADAB-C32B42D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C4FB0-94CD-421C-A4A1-0F8A2C9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DC72D-CC7E-4F36-B2AC-ED83199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Explain decisions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7AD4E-5307-4396-B652-970F3E25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Show sources, assumptions, and limits to a human reviewer.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46E43-F8AD-4C60-A7F5-FA283EE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7200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21219-C532-42D9-8494-A6D4B0C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A6D30-077E-46DD-88D8-02676EDB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95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BDA88-FCD5-42C1-8B6F-9B74B15C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Operate safely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2BB46-F988-4833-BAB8-7B2D7DAB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48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Respect permissions, policies, and risk thresholds.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D3382-E15F-446F-926F-0EA2DEF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04</a:t>
            </a:r>
          </a:p>
        </p:txBody>
      </p:sp>
    </p:spTree>
    <p:extLst>
      <p:ext uri="{BB962C8B-B14F-4D97-AF65-F5344CB8AC3E}">
        <p14:creationId xmlns:p14="http://schemas.microsoft.com/office/powerpoint/2010/main" val="195326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D565C-951E-4E9D-A1E4-CF932B82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A7DA-224C-43C9-AC62-660CE4B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Why AGI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957A8-7FE1-445F-8CEF-FC78D56C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If systems become broadly capable, they could expand the range of work software can perform. The same capability raises the stakes for oversight.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E323-DBDB-4A03-AAA2-93194F4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21D45-C99E-431F-BDA8-53D46D5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5BFF"/>
                </a:solidFill>
              </a:defRPr>
            </a:pPr>
            <a:r>
              <a:rPr sz="1650" b="1">
                <a:solidFill>
                  <a:srgbClr val="175BFF"/>
                </a:solidFill>
              </a:rPr>
              <a:t>Potential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A684-8816-4164-9BE0-4D23129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D65B6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65B63"/>
                </a:solidFill>
              </a:defRPr>
            </a:pPr>
            <a:r>
              <a:rPr sz="1650" b="1">
                <a:solidFill>
                  <a:srgbClr val="D65B63"/>
                </a:solidFill>
              </a:rPr>
              <a:t>Primary 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8610D-C79A-4E99-B91B-40F4A42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4D012-7F29-4DEF-8527-E59B7E3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DF838-BF90-432B-B609-5B053A2E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Explore hypotheses and synthesize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B88A-05CB-471A-BD46-07ECE17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6956E-9341-4D62-B060-684219B0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B1A1B-4DC0-461E-ACB7-1905662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Coordinate complex work across systems and teams.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5D04E-CB54-4325-8299-5225A845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90257-3849-4403-B5DA-6798ACA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3C4A2-B7A6-4B8D-A1FA-8C82488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Provide expert-level support in more languages and settings.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A731A-2A1B-4B68-A109-7073FE0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46AF4-E54E-4ADB-9C27-933837A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9D371-8434-497D-9BD1-81CB7F0A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Confident errors can cause real-world harm.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40766-669F-48F9-9648-56ABD43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38DE-3CED-4BFC-9E51-A00AAE0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623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6B09F-2AB9-4CF1-BF0A-A11AA78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A powerful system needs clear boundaries and human authority.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DA52D-9A89-4119-B358-2EDE28AC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F25A9-4CEE-48B2-B626-06FF80E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Equity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A28FE-EC1D-4A4A-A46A-3398BD6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292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Access, bias, and accountability require deliberate design.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31944-F7FD-413C-ABD1-7A33567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05</a:t>
            </a:r>
          </a:p>
        </p:txBody>
      </p:sp>
    </p:spTree>
    <p:extLst>
      <p:ext uri="{BB962C8B-B14F-4D97-AF65-F5344CB8AC3E}">
        <p14:creationId xmlns:p14="http://schemas.microsoft.com/office/powerpoint/2010/main" val="1187373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0CE36-33B9-4EF7-9BDB-D29E66A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DC6D8"/>
                </a:solidFill>
              </a:defRPr>
            </a:pPr>
            <a:r>
              <a:rPr sz="1050" b="1">
                <a:solidFill>
                  <a:srgbClr val="1DC6D8"/>
                </a:solidFill>
              </a:rPr>
              <a:t>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B5B5-5750-477E-9FAE-E65043A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hospital operations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D034-2499-47B3-BF4C-3CA6B23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8D9F3"/>
                </a:solidFill>
              </a:defRPr>
            </a:pPr>
            <a:r>
              <a:rPr sz="1575" b="0">
                <a:solidFill>
                  <a:srgbClr val="C8D9F3"/>
                </a:solidFill>
              </a:rPr>
              <a:t>Illustrative scenario: a health system uses an advanced AI assistant to reduce delays in patient discharge while clinical staff retain every final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CA8DA-5FD5-49AD-A993-E01EAB6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385AF-CF4D-4870-864B-08A5569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A935D-ACC2-4141-AA17-87C06E1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C565C-47DB-4DCF-81F2-98425C1A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623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Bed status, orders, discharge notes, transport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4B50-C1F6-46C3-9F18-B683635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2D81-4A2A-4282-8440-2020837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A6C1-E634-44C2-8F99-AE56FC5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18A91-38D7-4B9C-BC73-C96AFEA2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481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Identify blockers and estimate which patients could leave safely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CA7D-6933-4569-A0CD-94909E4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A0E70-1305-41BE-BD16-F94AF252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A56C6-5238-4BCB-91FF-86CF9BF0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58603-6823-4472-B1CD-16BC80A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339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Draft task lists and route questions to the right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8F28F-07AA-4182-A019-6505D6E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5F"/>
          </a:solidFill>
          <a:ln xmlns:a="http://schemas.openxmlformats.org/drawingml/2006/main" w="0">
            <a:solidFill>
              <a:srgbClr val="FFB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ECDD8-84F9-456F-9046-278EC0D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81A3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1A3A"/>
                </a:solidFill>
              </a:defRPr>
            </a:pPr>
            <a:r>
              <a:rPr sz="1275" b="1">
                <a:solidFill>
                  <a:srgbClr val="081A3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8F882-E406-46BD-A65A-B6D70D7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6C6EE-D2A3-4541-8C5B-BE0CDCD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197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Flag uncertainty, conflicting data, or high-risk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36FD8-137A-4007-889F-34342BA0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CF6D4"/>
                </a:solidFill>
              </a:defRPr>
            </a:pPr>
            <a:r>
              <a:rPr sz="1050" b="1">
                <a:solidFill>
                  <a:srgbClr val="BCF6D4"/>
                </a:solidFill>
              </a:rPr>
              <a:t>Human control point: clinicians approve discharge decisions and the system cannot write orders.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6A1C0-BE65-4C94-9CC5-574E8EA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06</a:t>
            </a:r>
          </a:p>
        </p:txBody>
      </p:sp>
    </p:spTree>
    <p:extLst>
      <p:ext uri="{BB962C8B-B14F-4D97-AF65-F5344CB8AC3E}">
        <p14:creationId xmlns:p14="http://schemas.microsoft.com/office/powerpoint/2010/main" val="1079744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39917-7A06-4950-AFF7-55AEEFE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1DFE-F257-4788-83B5-EA17138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Case study workflow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E31A-71D5-4F63-83CE-BC0A7A22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The assistant acts as a coordinator. Clinical accountability remains with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D9DEA-BE21-4024-84D5-5BDAAA0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2FB37-07FA-417C-AB32-CC71264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822C-C21B-4771-9D0E-52B6963B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Data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8DE98-9BCA-43CF-92A6-B2597E0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EHR, bed board, transport, staffing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DC52-F27F-4F7F-92E3-608418C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D3A89-2C9E-4B35-95CB-6F03B9B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0">
            <a:solidFill>
              <a:srgbClr val="E5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5DBBE-8494-4D00-A628-8ACA1A4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5BFF"/>
                </a:solidFill>
              </a:defRPr>
            </a:pPr>
            <a:r>
              <a:rPr sz="1425" b="1">
                <a:solidFill>
                  <a:srgbClr val="175BFF"/>
                </a:solidFill>
              </a:rPr>
              <a:t>AI 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3027D-D89B-4C32-AA82-DE11DDE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Builds a shared view and identifies blockers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6E5B-9187-4B2E-A411-4F2BD68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3C3E1-3783-463C-950A-DB4C0DD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59EC1-2D0E-4F19-9F50-7F0CBB2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Human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F637A-3A37-4AE0-834C-1822A1B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Nurse, physician, case manager validate the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E8B4-7D0F-4F37-A63C-F039659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DA849-B8F6-4EEA-9BAC-28A17F8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8DB8F-DF3C-40F8-9611-94BC03C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13DCD-2B9C-41E9-9844-F62AE11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Teams complete tasks and update the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0E3F9-1577-44B6-BA9D-2F632D8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Guardrails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4E9B4-660D-4266-B57B-9D03A04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3E39D-736C-4ACA-8EC7-7B30EEA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910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Role-based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BA77E-BD8B-4FA7-90A3-59F394A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4110B-F778-4BB8-88B2-F3318D72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91075"/>
            <a:ext cx="1114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Audit trail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2F1D3-15A6-4FB7-B8C4-8C0EFC8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7434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176EE-78C0-4CB9-93DD-EF96ED4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Escalation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EF469-0E1B-4F0E-AC09-2FC854C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434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C7730-84F2-4655-A08D-023DD89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910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Human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0BB6-5D9E-470D-92AD-B00C553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07</a:t>
            </a:r>
          </a:p>
        </p:txBody>
      </p:sp>
    </p:spTree>
    <p:extLst>
      <p:ext uri="{BB962C8B-B14F-4D97-AF65-F5344CB8AC3E}">
        <p14:creationId xmlns:p14="http://schemas.microsoft.com/office/powerpoint/2010/main" val="232733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53D4A-F61A-4E3E-B96E-647F97D4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57AB9-0E5D-429E-80FE-59F568A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How to evaluate a system like this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5D05B-A61E-4C77-BD5E-CFC0C9C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A convincing demo is not enough. Teams need evidence that the system improves work without creating unacceptable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1EE8C-94DB-4E0D-BE26-4A946FF1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2E989-39DE-42FF-9A67-6CB4FED6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26CCA-D1C5-4E62-AC26-7136DA7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Task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E1D64-279D-4A50-A67F-017076B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identify the correct blocker and propose a workable next step?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BC029-8C04-4057-8BCC-EF8F228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F4F8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6C93C-2B6C-444E-A72D-09B2197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2F570-745A-4C78-935F-ABF7AD1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099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surface uncertainty and avoid unsupported recommendations?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4D533-7588-401D-B12A-A5D6CE4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DD86E-533D-42B5-A055-B5B45D7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Human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05492-BD6E-4341-8064-2DA544D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528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reduce coordination burden without adding review overhead?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1DC7C-A329-4096-8E4C-E59C65F9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F4F8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9A5B8-E1FF-47AE-A66B-A7E4C9E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Fairness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59BAC-468B-4C42-A31A-DC9E8D9D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958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performance stay consistent across patient groups and care settings?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ECC15-AA2D-4908-8DDB-EC719F5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BD41E-FB1F-4AD8-B4A9-8247B38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Operational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8A37B-4C15-420D-BE70-47973F6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387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 discharge delays, rework, and escalations improve over time?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E18BF-E095-4583-875E-5F64C38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08</a:t>
            </a:r>
          </a:p>
        </p:txBody>
      </p:sp>
    </p:spTree>
    <p:extLst>
      <p:ext uri="{BB962C8B-B14F-4D97-AF65-F5344CB8AC3E}">
        <p14:creationId xmlns:p14="http://schemas.microsoft.com/office/powerpoint/2010/main" val="996630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FDDF0-082F-41F1-8E8D-C7C518F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DC6D8"/>
                </a:solidFill>
              </a:defRPr>
            </a:pPr>
            <a:r>
              <a:rPr sz="1050" b="1">
                <a:solidFill>
                  <a:srgbClr val="1DC6D8"/>
                </a:solidFill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99D3-3002-4CE6-8900-7A76298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AGI is a direction of travel,</a:t>
            </a:r>
          </a:p>
          <a:p xmlns:a="http://schemas.openxmlformats.org/drawingml/2006/main">
            <a:pPr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not a product category today.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33E87-E7D6-48C5-B4EA-D2314E6B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D27BB-13BD-486D-9111-65E525F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62AC3-A481-4F61-969A-14F9571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Broad, adaptive competence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A2526-E912-4363-9A1F-78A5558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FA94-5952-45CE-A0CC-D1A9890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Near-term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1A966-5A4F-4E2F-85F2-D95FB8C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8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Build useful agents with limits, oversight, and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4C85-7108-4582-9E17-549300D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84B"/>
          </a:solidFill>
          <a:ln xmlns:a="http://schemas.openxmlformats.org/drawingml/2006/main" w="0">
            <a:solidFill>
              <a:srgbClr val="FFA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A2089-C750-46EA-86A7-85FAB99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Case-study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5C730-84B7-47C8-B7B9-F7A7C70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Give AI coordination work first. Keep high-stakes decisions with accountable people.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BDE9B-3F54-4A51-8BDE-FBC3D241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CF6D4"/>
                </a:solidFill>
              </a:defRPr>
            </a:pPr>
            <a:r>
              <a:rPr sz="1350" b="1">
                <a:solidFill>
                  <a:srgbClr val="BCF6D4"/>
                </a:solidFill>
              </a:rPr>
              <a:t>Discussion: Where would broader AI capability create value in your organization, and where must human authority remain?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1373F-BFED-40E1-B65E-65981A9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09</a:t>
            </a:r>
          </a:p>
        </p:txBody>
      </p:sp>
    </p:spTree>
    <p:extLst>
      <p:ext uri="{BB962C8B-B14F-4D97-AF65-F5344CB8AC3E}">
        <p14:creationId xmlns:p14="http://schemas.microsoft.com/office/powerpoint/2010/main" val="1243668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2026-10-10T12:04:40.0080000Z</dcterms:created>
  <dcterms:modified xsi:type="dcterms:W3CDTF">2026-10-10T12:04:40.0080000Z</dcterms:modified>
</coreProperties>
</file>