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b14e43da5a4c59" /><Relationship Type="http://schemas.openxmlformats.org/officeDocument/2006/relationships/extended-properties" Target="/docProps/app.xml" Id="R020cbfc105e74596" /><Relationship Type="http://schemas.openxmlformats.org/officeDocument/2006/relationships/officeDocument" Target="/ppt/presentation.xml" Id="R9baba8f2a61344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ffd21379894a21"/>
  </p:sldMasterIdLst>
  <p:notesMasterIdLst>
    <p:notesMasterId xmlns:r="http://schemas.openxmlformats.org/officeDocument/2006/relationships" r:id="R4797088ec3dc4065"/>
  </p:notesMasterIdLst>
  <p:sldIdLst>
    <p:sldId xmlns:r="http://schemas.openxmlformats.org/officeDocument/2006/relationships" id="256" r:id="Rc9b3ce2476b945f1"/>
    <p:sldId xmlns:r="http://schemas.openxmlformats.org/officeDocument/2006/relationships" id="257" r:id="Rcb7146cabc294513"/>
    <p:sldId xmlns:r="http://schemas.openxmlformats.org/officeDocument/2006/relationships" id="258" r:id="Rda9573fefc9247b7"/>
    <p:sldId xmlns:r="http://schemas.openxmlformats.org/officeDocument/2006/relationships" id="259" r:id="R1bb2234980b14eb5"/>
    <p:sldId xmlns:r="http://schemas.openxmlformats.org/officeDocument/2006/relationships" id="260" r:id="Ra5336187b5774495"/>
    <p:sldId xmlns:r="http://schemas.openxmlformats.org/officeDocument/2006/relationships" id="261" r:id="Rd6c5c67a8bfa48ae"/>
    <p:sldId xmlns:r="http://schemas.openxmlformats.org/officeDocument/2006/relationships" id="262" r:id="R55df726cf27e4fb1"/>
    <p:sldId xmlns:r="http://schemas.openxmlformats.org/officeDocument/2006/relationships" id="263" r:id="Rff549d3c7bf54749"/>
    <p:sldId xmlns:r="http://schemas.openxmlformats.org/officeDocument/2006/relationships" id="264" r:id="R06043a9fd8b847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8ad359d2194aa0" /><Relationship Type="http://schemas.openxmlformats.org/officeDocument/2006/relationships/slideMaster" Target="/ppt/slideMasters/slideMaster1.xml" Id="R35ffd21379894a21" /><Relationship Type="http://schemas.openxmlformats.org/officeDocument/2006/relationships/notesMaster" Target="/ppt/notesMasters/notesMaster1.xml" Id="R4797088ec3dc4065" /><Relationship Type="http://schemas.openxmlformats.org/officeDocument/2006/relationships/presProps" Target="/ppt/presProps.xml" Id="Rd50cdba12bf144f1" /><Relationship Type="http://schemas.openxmlformats.org/officeDocument/2006/relationships/tableStyles" Target="/ppt/tableStyles.xml" Id="R5c9e0893464144b6" /><Relationship Type="http://schemas.openxmlformats.org/officeDocument/2006/relationships/slide" Target="/ppt/slides/slide1.xml" Id="Rc9b3ce2476b945f1" /><Relationship Type="http://schemas.openxmlformats.org/officeDocument/2006/relationships/slide" Target="/ppt/slides/slide2.xml" Id="Rcb7146cabc294513" /><Relationship Type="http://schemas.openxmlformats.org/officeDocument/2006/relationships/slide" Target="/ppt/slides/slide3.xml" Id="Rda9573fefc9247b7" /><Relationship Type="http://schemas.openxmlformats.org/officeDocument/2006/relationships/slide" Target="/ppt/slides/slide4.xml" Id="R1bb2234980b14eb5" /><Relationship Type="http://schemas.openxmlformats.org/officeDocument/2006/relationships/slide" Target="/ppt/slides/slide5.xml" Id="Ra5336187b5774495" /><Relationship Type="http://schemas.openxmlformats.org/officeDocument/2006/relationships/slide" Target="/ppt/slides/slide6.xml" Id="Rd6c5c67a8bfa48ae" /><Relationship Type="http://schemas.openxmlformats.org/officeDocument/2006/relationships/slide" Target="/ppt/slides/slide7.xml" Id="R55df726cf27e4fb1" /><Relationship Type="http://schemas.openxmlformats.org/officeDocument/2006/relationships/slide" Target="/ppt/slides/slide8.xml" Id="Rff549d3c7bf54749" /><Relationship Type="http://schemas.openxmlformats.org/officeDocument/2006/relationships/slide" Target="/ppt/slides/slide9.xml" Id="R06043a9fd8b847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f86a722a6f43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abc5ec5a2940be" /><Relationship Type="http://schemas.openxmlformats.org/officeDocument/2006/relationships/notesMaster" Target="/ppt/notesMasters/notesMaster1.xml" Id="Rfe1b9a5c25e44a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8b29e735cb4f72" /><Relationship Type="http://schemas.openxmlformats.org/officeDocument/2006/relationships/notesMaster" Target="/ppt/notesMasters/notesMaster1.xml" Id="Rdab329c6dcf145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bfb3c45519471c" /><Relationship Type="http://schemas.openxmlformats.org/officeDocument/2006/relationships/notesMaster" Target="/ppt/notesMasters/notesMaster1.xml" Id="Rd37b4de8c2924a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d4711627134695" /><Relationship Type="http://schemas.openxmlformats.org/officeDocument/2006/relationships/notesMaster" Target="/ppt/notesMasters/notesMaster1.xml" Id="R34a153804eae44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4d04a089c048eb" /><Relationship Type="http://schemas.openxmlformats.org/officeDocument/2006/relationships/notesMaster" Target="/ppt/notesMasters/notesMaster1.xml" Id="Rd0c36bc1b7c04a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3789446c5e498d" /><Relationship Type="http://schemas.openxmlformats.org/officeDocument/2006/relationships/notesMaster" Target="/ppt/notesMasters/notesMaster1.xml" Id="Ra1e8b1bc999f44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38f409b3db47ea" /><Relationship Type="http://schemas.openxmlformats.org/officeDocument/2006/relationships/notesMaster" Target="/ppt/notesMasters/notesMaster1.xml" Id="R96006174474a4c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79048b7d7445db" /><Relationship Type="http://schemas.openxmlformats.org/officeDocument/2006/relationships/notesMaster" Target="/ppt/notesMasters/notesMaster1.xml" Id="R88206518717f4d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a3bcc2244d456f" /><Relationship Type="http://schemas.openxmlformats.org/officeDocument/2006/relationships/notesMaster" Target="/ppt/notesMasters/notesMaster1.xml" Id="R2fe3b07fd4284f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This deck uses AGI as a conceptual target, not a claim that it has already been achieved.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Definition note: There is no universally accepted test for AGI. Treat this as a practical framing for discussion.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point: Agentic AI can execute multi-step tasks, but that alone does not establish general intelligence.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moves the conversation away from a single benchmark and toward reliable behavior in real workflows.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claiming AGI will automatically create these outcomes. Benefits depend on product design, governance, and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 study is illustrative. It shows how broad reasoning could augment a complex workflow without giving the system autonomous clinical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core design principle: match automation authority to risk. Lower-risk coordination can be more automated than clinical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staged rollout, a defined baseline, independent review, and clear stop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discussion question. Avoid predicting a timeline for AGI; focus on responsible capability building now.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ecb9a8f0f942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1c6a174db241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74d9ca1e834c5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a879e3c6994f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7ece00c2940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160ce6518347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452E75-1F2D-426A-92FB-A0099B42A7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3324CBD-06D8-4257-B28C-07998379D0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3B53DED-ACBF-45B8-BDAA-DB9898F397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A529CA-5B80-43E4-86EF-05923DE677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107D15C-C274-4D5D-9D9E-80B24D5D5E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91306A-7F28-4668-AF58-1FA6421974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AED4592-C52B-4112-8D66-8C712A39E9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BAA2D2-8A98-4FB6-BC1F-8F8B4FF967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DD9541-E12C-469D-9D42-0CA2BAE8C3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5A8471-3331-4A58-8BD7-450C6F7AFC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b2484da6774bf2" /><Relationship Type="http://schemas.openxmlformats.org/officeDocument/2006/relationships/slideLayout" Target="/ppt/slideLayouts/slideLayout1.xml" Id="R5f33f8404fae40de" /><Relationship Type="http://schemas.openxmlformats.org/officeDocument/2006/relationships/slideLayout" Target="/ppt/slideLayouts/slideLayout2.xml" Id="R8a80b7b915474d6c" /><Relationship Type="http://schemas.openxmlformats.org/officeDocument/2006/relationships/slideLayout" Target="/ppt/slideLayouts/slideLayout3.xml" Id="R9360363b682a4b8b" /><Relationship Type="http://schemas.openxmlformats.org/officeDocument/2006/relationships/slideLayout" Target="/ppt/slideLayouts/slideLayout4.xml" Id="R9eac9b4256204da1" /><Relationship Type="http://schemas.openxmlformats.org/officeDocument/2006/relationships/slideLayout" Target="/ppt/slideLayouts/slideLayout5.xml" Id="R5fff82c393424187" /><Relationship Type="http://schemas.openxmlformats.org/officeDocument/2006/relationships/slideLayout" Target="/ppt/slideLayouts/slideLayout6.xml" Id="Rf00f7d6921714d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33f8404fae40de"/>
    <p:sldLayoutId xmlns:r="http://schemas.openxmlformats.org/officeDocument/2006/relationships" id="2147483650" r:id="R8a80b7b915474d6c"/>
    <p:sldLayoutId xmlns:r="http://schemas.openxmlformats.org/officeDocument/2006/relationships" id="2147483651" r:id="R9360363b682a4b8b"/>
    <p:sldLayoutId xmlns:r="http://schemas.openxmlformats.org/officeDocument/2006/relationships" id="2147483652" r:id="R9eac9b4256204da1"/>
    <p:sldLayoutId xmlns:r="http://schemas.openxmlformats.org/officeDocument/2006/relationships" id="2147483653" r:id="R5fff82c393424187"/>
    <p:sldLayoutId xmlns:r="http://schemas.openxmlformats.org/officeDocument/2006/relationships" id="2147483654" r:id="Rf00f7d6921714d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ebdeeeebee446a" /><Relationship Type="http://schemas.openxmlformats.org/officeDocument/2006/relationships/notesSlide" Target="/ppt/notesSlides/notesSlide1.xml" Id="R5481d4806d1c4f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075ff5cc94dc7" /><Relationship Type="http://schemas.openxmlformats.org/officeDocument/2006/relationships/notesSlide" Target="/ppt/notesSlides/notesSlide2.xml" Id="R0cbcf4372e3e40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c2e290812a4968" /><Relationship Type="http://schemas.openxmlformats.org/officeDocument/2006/relationships/notesSlide" Target="/ppt/notesSlides/notesSlide3.xml" Id="Rc81c3d532f9e49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148853d46248a3" /><Relationship Type="http://schemas.openxmlformats.org/officeDocument/2006/relationships/notesSlide" Target="/ppt/notesSlides/notesSlide4.xml" Id="R1ae29d1a82ca40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02e6ca0dd44e4f" /><Relationship Type="http://schemas.openxmlformats.org/officeDocument/2006/relationships/notesSlide" Target="/ppt/notesSlides/notesSlide5.xml" Id="R3d588bd582404a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54d2523ccb4229" /><Relationship Type="http://schemas.openxmlformats.org/officeDocument/2006/relationships/notesSlide" Target="/ppt/notesSlides/notesSlide6.xml" Id="R7258f2f737ab49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5865d8a855489a" /><Relationship Type="http://schemas.openxmlformats.org/officeDocument/2006/relationships/notesSlide" Target="/ppt/notesSlides/notesSlide7.xml" Id="Rb56a84391e6740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c8b330e9da42f3" /><Relationship Type="http://schemas.openxmlformats.org/officeDocument/2006/relationships/notesSlide" Target="/ppt/notesSlides/notesSlide8.xml" Id="R0b25375dfb4a41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c21a035aa45f7" /><Relationship Type="http://schemas.openxmlformats.org/officeDocument/2006/relationships/notesSlide" Target="/ppt/notesSlides/notesSlide9.xml" Id="Rb84a3ccc9a7a49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4FC307-6211-4ABD-A394-B8712A0D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DC6D8"/>
                </a:solidFill>
              </a:defRPr>
            </a:pPr>
            <a:r>
              <a:rPr sz="1125" b="1">
                <a:solidFill>
                  <a:srgbClr val="1DC6D8"/>
                </a:solidFill>
              </a:rPr>
              <a:t>INTRODUCTION 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A0FF9B-70DC-4DD8-9369-FF7258F1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6191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FFFFFF"/>
                </a:solidFill>
              </a:defRPr>
            </a:pPr>
            <a:r>
              <a:rPr sz="3975" b="1">
                <a:solidFill>
                  <a:srgbClr val="FFFFFF"/>
                </a:solidFill>
              </a:rPr>
              <a:t>Artificial General</a:t>
            </a:r>
          </a:p>
          <a:p xmlns:a="http://schemas.openxmlformats.org/drawingml/2006/main">
            <a:pPr>
              <a:defRPr sz="3975" b="1">
                <a:solidFill>
                  <a:srgbClr val="FFFFFF"/>
                </a:solidFill>
              </a:defRPr>
            </a:pPr>
            <a:r>
              <a:rPr sz="3975" b="1">
                <a:solidFill>
                  <a:srgbClr val="FFFFFF"/>
                </a:solidFill>
              </a:rPr>
              <a:t>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52510-7F9D-4FD9-B12B-CF54116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8D9F3"/>
                </a:solidFill>
              </a:defRPr>
            </a:pPr>
            <a:r>
              <a:rPr sz="1650" b="0">
                <a:solidFill>
                  <a:srgbClr val="C8D9F3"/>
                </a:solidFill>
              </a:rPr>
              <a:t>What AGI means, how it differs from today’s AI, and a practical case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7C095-96E4-4C2E-83C3-08F75827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3568"/>
          </a:solidFill>
          <a:ln xmlns:a="http://schemas.openxmlformats.org/drawingml/2006/main" w="0">
            <a:solidFill>
              <a:srgbClr val="16356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A5FDD-11DC-4559-A779-F316A84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290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BCF6D4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CF6D4"/>
                </a:solidFill>
              </a:defRPr>
            </a:pPr>
            <a:r>
              <a:rPr sz="1050" b="1">
                <a:solidFill>
                  <a:srgbClr val="BCF6D4"/>
                </a:solidFill>
              </a:rPr>
              <a:t>A concise primer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01C75-38AA-4700-966C-9046ED58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81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397A"/>
          </a:solidFill>
          <a:ln xmlns:a="http://schemas.openxmlformats.org/drawingml/2006/main" w="0">
            <a:solidFill>
              <a:srgbClr val="0F39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E44E1-AAB1-4EF0-B411-E2374965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0384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A3"/>
          </a:solidFill>
          <a:ln xmlns:a="http://schemas.openxmlformats.org/drawingml/2006/main" w="0">
            <a:solidFill>
              <a:srgbClr val="1452A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F991C-8734-4D23-A201-EC80AFBA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8956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397A"/>
          </a:solidFill>
          <a:ln xmlns:a="http://schemas.openxmlformats.org/drawingml/2006/main" w="0">
            <a:solidFill>
              <a:srgbClr val="0F39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7B087-8AE2-41F2-BF40-95AD6782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52725"/>
            <a:ext cx="1447800" cy="1447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A3"/>
          </a:solidFill>
          <a:ln xmlns:a="http://schemas.openxmlformats.org/drawingml/2006/main" w="0">
            <a:solidFill>
              <a:srgbClr val="1452A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DBE70-D7A1-4286-810B-73C15995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609850"/>
            <a:ext cx="1733550" cy="1733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397A"/>
          </a:solidFill>
          <a:ln xmlns:a="http://schemas.openxmlformats.org/drawingml/2006/main" w="0">
            <a:solidFill>
              <a:srgbClr val="0F39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ED2DD-F0CF-4416-8C24-9DE04772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66975"/>
            <a:ext cx="2019300" cy="201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A3"/>
          </a:solidFill>
          <a:ln xmlns:a="http://schemas.openxmlformats.org/drawingml/2006/main" w="0">
            <a:solidFill>
              <a:srgbClr val="1452A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1707A-C9FF-43E7-B529-96F25450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718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95ABF2-5B24-4DCA-8E9C-96D8FC31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81A3A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1A3A"/>
                </a:solidFill>
              </a:defRPr>
            </a:pPr>
            <a:r>
              <a:rPr sz="1275" b="1">
                <a:solidFill>
                  <a:srgbClr val="081A3A"/>
                </a:solidFill>
              </a:rPr>
              <a:t>AGI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6F907-E8F3-4B08-BB0C-B6282C1C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C8D9F3"/>
                </a:solidFill>
              </a:defRPr>
            </a:pPr>
            <a:r>
              <a:rPr sz="975" b="0">
                <a:solidFill>
                  <a:srgbClr val="C8D9F3"/>
                </a:solidFill>
              </a:rPr>
              <a:t>Case study: hospital operations assistant</a:t>
            </a:r>
          </a:p>
        </p:txBody>
      </p:sp>
    </p:spTree>
    <p:extLst>
      <p:ext uri="{BB962C8B-B14F-4D97-AF65-F5344CB8AC3E}">
        <p14:creationId xmlns:p14="http://schemas.microsoft.com/office/powerpoint/2010/main" val="600704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3F01B-BDE5-4402-BC72-19BD1D9D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C6D8"/>
                </a:solidFill>
              </a:defRPr>
            </a:pPr>
            <a:r>
              <a:rPr sz="975" b="1">
                <a:solidFill>
                  <a:srgbClr val="1DC6D8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FD825-16C6-4C3B-9AED-E9728802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13D"/>
                </a:solidFill>
              </a:defRPr>
            </a:pPr>
            <a:r>
              <a:rPr sz="2550" b="1">
                <a:solidFill>
                  <a:srgbClr val="10213D"/>
                </a:solidFill>
              </a:rPr>
              <a:t>What does “AGI” mean?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F06F4-B372-4821-B82F-AB57BDA2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708F"/>
                </a:solidFill>
              </a:defRPr>
            </a:pPr>
            <a:r>
              <a:rPr sz="1275" b="0">
                <a:solidFill>
                  <a:srgbClr val="57708F"/>
                </a:solidFill>
              </a:rPr>
              <a:t>A useful working definition focuses on breadth, adaptation, and independence.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49F10-4B25-44D8-B8B1-B3F5C006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B548D-7DC2-4466-8AC1-49AEA58A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0213D"/>
                </a:solidFill>
              </a:defRPr>
            </a:pPr>
            <a:r>
              <a:rPr sz="1800" b="1">
                <a:solidFill>
                  <a:srgbClr val="10213D"/>
                </a:solidFill>
              </a:rPr>
              <a:t>AGI describes a hypothetical AI system that can learn and apply knowledge across many domains at a level comparable to a capable human.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1ECEA8-C036-4234-9488-90D3EF90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3286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DCA9C-C99F-48DB-9F39-CC7A0405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13D"/>
                </a:solidFill>
              </a:defRPr>
            </a:pPr>
            <a:r>
              <a:rPr sz="1500" b="1">
                <a:solidFill>
                  <a:srgbClr val="10213D"/>
                </a:solidFill>
              </a:rPr>
              <a:t>Broad competence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C9C6B-A17F-433C-A52B-21FF5E36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708F"/>
                </a:solidFill>
              </a:defRPr>
            </a:pPr>
            <a:r>
              <a:rPr sz="1200" b="0">
                <a:solidFill>
                  <a:srgbClr val="57708F"/>
                </a:solidFill>
              </a:rPr>
              <a:t>Works across unfamiliar tasks, not one narrow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4B38E-2876-4F1E-8AA6-8746419F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81375"/>
            <a:ext cx="3286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705C45-EB6B-4C9C-AD7B-FA587EB4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19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13D"/>
                </a:solidFill>
              </a:defRPr>
            </a:pPr>
            <a:r>
              <a:rPr sz="1500" b="1">
                <a:solidFill>
                  <a:srgbClr val="10213D"/>
                </a:solidFill>
              </a:rPr>
              <a:t>Learning and transfer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DF849-A348-4381-B1B1-22738BC3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09575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708F"/>
                </a:solidFill>
              </a:defRPr>
            </a:pPr>
            <a:r>
              <a:rPr sz="1200" b="0">
                <a:solidFill>
                  <a:srgbClr val="57708F"/>
                </a:solidFill>
              </a:rPr>
              <a:t>Uses prior knowledge to solve a new problem with little extra training.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380BC4-762C-45AA-8AE6-2C01ABE8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81375"/>
            <a:ext cx="3286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FFE25-9BF8-433E-986F-E8C38071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195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13D"/>
                </a:solidFill>
              </a:defRPr>
            </a:pPr>
            <a:r>
              <a:rPr sz="1500" b="1">
                <a:solidFill>
                  <a:srgbClr val="10213D"/>
                </a:solidFill>
              </a:rPr>
              <a:t>Reasoned 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98C97-A6E5-4A82-8D3A-A62B7B31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95750"/>
            <a:ext cx="276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708F"/>
                </a:solidFill>
              </a:defRPr>
            </a:pPr>
            <a:r>
              <a:rPr sz="1200" b="0">
                <a:solidFill>
                  <a:srgbClr val="57708F"/>
                </a:solidFill>
              </a:rPr>
              <a:t>Plans, uses tools, and checks its work against real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FA321C-E614-4304-AE70-6987B055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7708F"/>
                </a:solidFill>
              </a:defRPr>
            </a:pPr>
            <a:r>
              <a:rPr sz="750" b="1">
                <a:solidFill>
                  <a:srgbClr val="57708F"/>
                </a:solidFill>
              </a:rPr>
              <a:t>INTRODUCTION TO AGI   /   02</a:t>
            </a:r>
          </a:p>
        </p:txBody>
      </p:sp>
    </p:spTree>
    <p:extLst>
      <p:ext uri="{BB962C8B-B14F-4D97-AF65-F5344CB8AC3E}">
        <p14:creationId xmlns:p14="http://schemas.microsoft.com/office/powerpoint/2010/main" val="213858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27AAB1-85B6-452A-8F42-61D491F2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C6D8"/>
                </a:solidFill>
              </a:defRPr>
            </a:pPr>
            <a:r>
              <a:rPr sz="975" b="1">
                <a:solidFill>
                  <a:srgbClr val="1DC6D8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5B5AC-DA45-409C-9A98-F49147E3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13D"/>
                </a:solidFill>
              </a:defRPr>
            </a:pPr>
            <a:r>
              <a:rPr sz="2550" b="1">
                <a:solidFill>
                  <a:srgbClr val="10213D"/>
                </a:solidFill>
              </a:rPr>
              <a:t>The AI capability spectrum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ABED4-3C05-45A0-B6D6-1158E7BD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708F"/>
                </a:solidFill>
              </a:defRPr>
            </a:pPr>
            <a:r>
              <a:rPr sz="1275" b="0">
                <a:solidFill>
                  <a:srgbClr val="57708F"/>
                </a:solidFill>
              </a:rPr>
              <a:t>Today’s systems can be highly capable without meeting a broad AGI definition.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85E5E-3338-4875-B564-92081B3A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142BB-ADF3-46DB-9B11-59837488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5F8F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D8537-5F0C-4FAA-B4AE-B112D1B7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13D"/>
                </a:solidFill>
              </a:defRPr>
            </a:pPr>
            <a:r>
              <a:rPr sz="1500" b="1">
                <a:solidFill>
                  <a:srgbClr val="10213D"/>
                </a:solidFill>
              </a:rPr>
              <a:t>Narrow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DA2F8C-4A1A-4A9E-B0D5-768FAEC4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708F"/>
                </a:solidFill>
              </a:defRPr>
            </a:pPr>
            <a:r>
              <a:rPr sz="1200" b="0">
                <a:solidFill>
                  <a:srgbClr val="57708F"/>
                </a:solidFill>
              </a:rPr>
              <a:t>Detects patterns in a defined task.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5D07D-B51D-45C7-A5C3-D780B5A2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7708F"/>
                </a:solidFill>
              </a:defRPr>
            </a:pPr>
            <a:r>
              <a:rPr sz="1050" b="1">
                <a:solidFill>
                  <a:srgbClr val="57708F"/>
                </a:solidFill>
              </a:rPr>
              <a:t>Spam filters</a:t>
            </a:r>
          </a:p>
          <a:p xmlns:a="http://schemas.openxmlformats.org/drawingml/2006/main">
            <a:pPr>
              <a:defRPr sz="1050" b="1">
                <a:solidFill>
                  <a:srgbClr val="57708F"/>
                </a:solidFill>
              </a:defRPr>
            </a:pPr>
            <a:r>
              <a:rPr sz="1050" b="1">
                <a:solidFill>
                  <a:srgbClr val="57708F"/>
                </a:solidFill>
              </a:rPr>
              <a:t>Image classifiers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38253-10F5-4D82-A5D4-920ACB71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476625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C6D8"/>
                </a:solidFill>
              </a:defRPr>
            </a:pPr>
            <a:r>
              <a:rPr sz="2550" b="1">
                <a:solidFill>
                  <a:srgbClr val="1DC6D8"/>
                </a:solidFill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BD9D4-EF71-4D95-8FAA-59D50198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241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5F8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DF209-AA59-4332-8072-3AD93D2A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13D"/>
                </a:solidFill>
              </a:defRPr>
            </a:pPr>
            <a:r>
              <a:rPr sz="1500" b="1">
                <a:solidFill>
                  <a:srgbClr val="10213D"/>
                </a:solidFill>
              </a:rPr>
              <a:t>Generative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C032A-1C0E-48A7-885A-EE0815C3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708F"/>
                </a:solidFill>
              </a:defRPr>
            </a:pPr>
            <a:r>
              <a:rPr sz="1200" b="0">
                <a:solidFill>
                  <a:srgbClr val="57708F"/>
                </a:solidFill>
              </a:rPr>
              <a:t>Creates and transforms content from prompts.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D274D-6A61-4012-B207-AEBEEC06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38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7708F"/>
                </a:solidFill>
              </a:defRPr>
            </a:pPr>
            <a:r>
              <a:rPr sz="1050" b="1">
                <a:solidFill>
                  <a:srgbClr val="57708F"/>
                </a:solidFill>
              </a:rPr>
              <a:t>Chatbots</a:t>
            </a:r>
          </a:p>
          <a:p xmlns:a="http://schemas.openxmlformats.org/drawingml/2006/main">
            <a:pPr>
              <a:defRPr sz="1050" b="1">
                <a:solidFill>
                  <a:srgbClr val="57708F"/>
                </a:solidFill>
              </a:defRPr>
            </a:pPr>
            <a:r>
              <a:rPr sz="1050" b="1">
                <a:solidFill>
                  <a:srgbClr val="57708F"/>
                </a:solidFill>
              </a:rPr>
              <a:t>Code assistants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69BD9-533C-4254-A88B-F8987D74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76625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C6D8"/>
                </a:solidFill>
              </a:defRPr>
            </a:pPr>
            <a:r>
              <a:rPr sz="2550" b="1">
                <a:solidFill>
                  <a:srgbClr val="1DC6D8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708E6-A690-4255-9FE8-208B8A83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241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0">
            <a:solidFill>
              <a:srgbClr val="F5F8F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A7E0E-00F7-451B-9691-79CAA7B2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81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13D"/>
                </a:solidFill>
              </a:defRPr>
            </a:pPr>
            <a:r>
              <a:rPr sz="1500" b="1">
                <a:solidFill>
                  <a:srgbClr val="10213D"/>
                </a:solidFill>
              </a:rPr>
              <a:t>Agentic 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2B054-5466-4E02-9EFF-EBB84D98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575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708F"/>
                </a:solidFill>
              </a:defRPr>
            </a:pPr>
            <a:r>
              <a:rPr sz="1200" b="0">
                <a:solidFill>
                  <a:srgbClr val="57708F"/>
                </a:solidFill>
              </a:rPr>
              <a:t>Pursues a goal through tools and multi-step workflows.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217E0-E723-44FA-A222-CC101FF4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38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57708F"/>
                </a:solidFill>
              </a:defRPr>
            </a:pPr>
            <a:r>
              <a:rPr sz="1050" b="1">
                <a:solidFill>
                  <a:srgbClr val="57708F"/>
                </a:solidFill>
              </a:rPr>
              <a:t>Research and operations agents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C744AC-F4F6-4286-B9AC-A35C723E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476625"/>
            <a:ext cx="228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DC6D8"/>
                </a:solidFill>
              </a:defRPr>
            </a:pPr>
            <a:r>
              <a:rPr sz="2550" b="1">
                <a:solidFill>
                  <a:srgbClr val="1DC6D8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A34F7-657B-42F2-AE64-243CB1AE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241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5FAFC"/>
          </a:solidFill>
          <a:ln xmlns:a="http://schemas.openxmlformats.org/drawingml/2006/main" w="0">
            <a:solidFill>
              <a:srgbClr val="E5FAF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CFDA2F-DE3C-472A-AD7F-263EE97B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75BFF"/>
                </a:solidFill>
              </a:defRPr>
            </a:pPr>
            <a:r>
              <a:rPr sz="1500" b="1">
                <a:solidFill>
                  <a:srgbClr val="175BFF"/>
                </a:solidFill>
              </a:rPr>
              <a:t>AGI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E21C8B-0AEC-4F67-A855-CA7BBDE5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575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7708F"/>
                </a:solidFill>
              </a:defRPr>
            </a:pPr>
            <a:r>
              <a:rPr sz="1200" b="0">
                <a:solidFill>
                  <a:srgbClr val="57708F"/>
                </a:solidFill>
              </a:rPr>
              <a:t>Generalizes across domains and adapts reliably to novelty.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226791-21E8-4F2F-AA94-D1CB69B5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38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75BFF"/>
                </a:solidFill>
              </a:defRPr>
            </a:pPr>
            <a:r>
              <a:rPr sz="1050" b="1">
                <a:solidFill>
                  <a:srgbClr val="175BFF"/>
                </a:solidFill>
              </a:rPr>
              <a:t>Hypothetical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E41508-A044-49F8-83AB-59AFE074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7708F"/>
                </a:solidFill>
              </a:defRPr>
            </a:pPr>
            <a:r>
              <a:rPr sz="750" b="1">
                <a:solidFill>
                  <a:srgbClr val="57708F"/>
                </a:solidFill>
              </a:rPr>
              <a:t>INTRODUCTION TO AGI   /   03</a:t>
            </a:r>
          </a:p>
        </p:txBody>
      </p:sp>
    </p:spTree>
    <p:extLst>
      <p:ext uri="{BB962C8B-B14F-4D97-AF65-F5344CB8AC3E}">
        <p14:creationId xmlns:p14="http://schemas.microsoft.com/office/powerpoint/2010/main" val="20430833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826768-3C07-41CC-BBC8-1FD70DDD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C6D8"/>
                </a:solidFill>
              </a:defRPr>
            </a:pPr>
            <a:r>
              <a:rPr sz="975" b="1">
                <a:solidFill>
                  <a:srgbClr val="1DC6D8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970CF-5F0C-4AF0-A128-FEAF5C41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13D"/>
                </a:solidFill>
              </a:defRPr>
            </a:pPr>
            <a:r>
              <a:rPr sz="2550" b="1">
                <a:solidFill>
                  <a:srgbClr val="10213D"/>
                </a:solidFill>
              </a:rPr>
              <a:t>Capabilities an AGI system would need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45781-AB75-4473-AD25-57C9E18B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708F"/>
                </a:solidFill>
              </a:defRPr>
            </a:pPr>
            <a:r>
              <a:rPr sz="1275" b="0">
                <a:solidFill>
                  <a:srgbClr val="57708F"/>
                </a:solidFill>
              </a:rPr>
              <a:t>The challenge is not just intelligence in isolation. It is dependable performance in changing environments.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2ADF9-9419-4193-9F57-D6911E60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0F61C-C68D-4EE1-8DFF-38CD5E22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5048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24302-C25A-446B-B258-7B38A46B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DCE9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8063C-040F-4119-AE0E-CB240F38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5BFF"/>
                </a:solidFill>
              </a:defRPr>
            </a:pPr>
            <a:r>
              <a:rPr sz="1125" b="1">
                <a:solidFill>
                  <a:srgbClr val="175B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1A9A1-A578-4D22-B08C-999B7915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62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13D"/>
                </a:solidFill>
              </a:defRPr>
            </a:pPr>
            <a:r>
              <a:rPr sz="1425" b="1">
                <a:solidFill>
                  <a:srgbClr val="10213D"/>
                </a:solidFill>
              </a:rPr>
              <a:t>Understand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26A95-50DE-4983-A39D-E4FAF4DD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667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7708F"/>
                </a:solidFill>
              </a:defRPr>
            </a:pPr>
            <a:r>
              <a:rPr sz="1050" b="0">
                <a:solidFill>
                  <a:srgbClr val="57708F"/>
                </a:solidFill>
              </a:rPr>
              <a:t>Interpret goals, constraints, uncertainty, and social signals.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6B89C-E494-4372-9CD1-6178E1E0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190750"/>
            <a:ext cx="5048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84B34-0308-446D-92E9-E70AFB60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F6D4"/>
          </a:solidFill>
          <a:ln xmlns:a="http://schemas.openxmlformats.org/drawingml/2006/main" w="0">
            <a:solidFill>
              <a:srgbClr val="BCF6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1CFA2-FFDB-4472-889B-B038AAE7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146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5BFF"/>
                </a:solidFill>
              </a:defRPr>
            </a:pPr>
            <a:r>
              <a:rPr sz="1125" b="1">
                <a:solidFill>
                  <a:srgbClr val="175B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3AE6F4-A0D3-4ED4-B272-3910E93A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622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13D"/>
                </a:solidFill>
              </a:defRPr>
            </a:pPr>
            <a:r>
              <a:rPr sz="1425" b="1">
                <a:solidFill>
                  <a:srgbClr val="10213D"/>
                </a:solidFill>
              </a:rPr>
              <a:t>Learn continuously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1BE702-351E-46DA-AE35-AD6A61A6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6670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7708F"/>
                </a:solidFill>
              </a:defRPr>
            </a:pPr>
            <a:r>
              <a:rPr sz="1050" b="0">
                <a:solidFill>
                  <a:srgbClr val="57708F"/>
                </a:solidFill>
              </a:rPr>
              <a:t>Update knowledge without losing prior capabilities.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926B91-FB58-4481-89F5-05F9D578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048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86C182-5CF0-4723-9549-E5EE5A00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99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DCE9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F3E4E-EE02-4E49-BE61-6CB11E45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052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5BFF"/>
                </a:solidFill>
              </a:defRPr>
            </a:pPr>
            <a:r>
              <a:rPr sz="1125" b="1">
                <a:solidFill>
                  <a:srgbClr val="175B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CF4F58-CB34-439A-A5BC-8C5BA3A9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5528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13D"/>
                </a:solidFill>
              </a:defRPr>
            </a:pPr>
            <a:r>
              <a:rPr sz="1425" b="1">
                <a:solidFill>
                  <a:srgbClr val="10213D"/>
                </a:solidFill>
              </a:rPr>
              <a:t>Transfer knowledge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A130F7-C4BB-4D2B-A593-461826A7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576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7708F"/>
                </a:solidFill>
              </a:defRPr>
            </a:pPr>
            <a:r>
              <a:rPr sz="1050" b="0">
                <a:solidFill>
                  <a:srgbClr val="57708F"/>
                </a:solidFill>
              </a:rPr>
              <a:t>Apply a method learned in one domain to another domain.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11DC37-DCC6-49C8-8775-98F61BAE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3381375"/>
            <a:ext cx="5048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443E7B-B9EE-40C1-BDFA-F83109A4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099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F6D4"/>
          </a:solidFill>
          <a:ln xmlns:a="http://schemas.openxmlformats.org/drawingml/2006/main" w="0">
            <a:solidFill>
              <a:srgbClr val="BCF6D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0E26E6-F8D7-48D2-ACC6-AE0E0010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7052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5BFF"/>
                </a:solidFill>
              </a:defRPr>
            </a:pPr>
            <a:r>
              <a:rPr sz="1125" b="1">
                <a:solidFill>
                  <a:srgbClr val="175B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253CF-E7F8-46BE-B4D8-DB27A0F4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5528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13D"/>
                </a:solidFill>
              </a:defRPr>
            </a:pPr>
            <a:r>
              <a:rPr sz="1425" b="1">
                <a:solidFill>
                  <a:srgbClr val="10213D"/>
                </a:solidFill>
              </a:rPr>
              <a:t>Plan and 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1CE90E-061D-4C88-AD2E-05D693C4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576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7708F"/>
                </a:solidFill>
              </a:defRPr>
            </a:pPr>
            <a:r>
              <a:rPr sz="1050" b="0">
                <a:solidFill>
                  <a:srgbClr val="57708F"/>
                </a:solidFill>
              </a:rPr>
              <a:t>Break goals into steps, use tools, and recover from failure.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CD9C83-6584-4F57-AB66-30B84AD8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048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C62721-C536-4DD2-ADAB-C32B42D9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00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DCE9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0C4FB0-94CD-421C-A4A1-0F8A2C9B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5BFF"/>
                </a:solidFill>
              </a:defRPr>
            </a:pPr>
            <a:r>
              <a:rPr sz="1125" b="1">
                <a:solidFill>
                  <a:srgbClr val="175B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FDC72D-CC7E-4F36-B2AC-ED831991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43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13D"/>
                </a:solidFill>
              </a:defRPr>
            </a:pPr>
            <a:r>
              <a:rPr sz="1425" b="1">
                <a:solidFill>
                  <a:srgbClr val="10213D"/>
                </a:solidFill>
              </a:rPr>
              <a:t>Explain decisions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C7AD4E-5307-4396-B652-970F3E25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48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7708F"/>
                </a:solidFill>
              </a:defRPr>
            </a:pPr>
            <a:r>
              <a:rPr sz="1050" b="0">
                <a:solidFill>
                  <a:srgbClr val="57708F"/>
                </a:solidFill>
              </a:rPr>
              <a:t>Show sources, assumptions, and limits to a human reviewer.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846E43-F8AD-4C60-A7F5-FA283EE5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572000"/>
            <a:ext cx="5048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321219-C532-42D9-8494-A6D4B0CE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00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F6D4"/>
          </a:solidFill>
          <a:ln xmlns:a="http://schemas.openxmlformats.org/drawingml/2006/main" w="0">
            <a:solidFill>
              <a:srgbClr val="BCF6D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5A6D30-077E-46DD-88D8-02676EDB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958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5BFF"/>
                </a:solidFill>
              </a:defRPr>
            </a:pPr>
            <a:r>
              <a:rPr sz="1125" b="1">
                <a:solidFill>
                  <a:srgbClr val="175BFF"/>
                </a:solidFill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8BDA88-FCD5-42C1-8B6F-9B74B15C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434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13D"/>
                </a:solidFill>
              </a:defRPr>
            </a:pPr>
            <a:r>
              <a:rPr sz="1425" b="1">
                <a:solidFill>
                  <a:srgbClr val="10213D"/>
                </a:solidFill>
              </a:rPr>
              <a:t>Operate safely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32BB46-F988-4833-BAB8-7B2D7DAB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048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7708F"/>
                </a:solidFill>
              </a:defRPr>
            </a:pPr>
            <a:r>
              <a:rPr sz="1050" b="0">
                <a:solidFill>
                  <a:srgbClr val="57708F"/>
                </a:solidFill>
              </a:rPr>
              <a:t>Respect permissions, policies, and risk thresholds.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2D3382-E15F-446F-926F-0EA2DEF1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7708F"/>
                </a:solidFill>
              </a:defRPr>
            </a:pPr>
            <a:r>
              <a:rPr sz="750" b="1">
                <a:solidFill>
                  <a:srgbClr val="57708F"/>
                </a:solidFill>
              </a:rPr>
              <a:t>INTRODUCTION TO AGI   /   04</a:t>
            </a:r>
          </a:p>
        </p:txBody>
      </p:sp>
    </p:spTree>
    <p:extLst>
      <p:ext uri="{BB962C8B-B14F-4D97-AF65-F5344CB8AC3E}">
        <p14:creationId xmlns:p14="http://schemas.microsoft.com/office/powerpoint/2010/main" val="19532641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AD565C-951E-4E9D-A1E4-CF932B82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C6D8"/>
                </a:solidFill>
              </a:defRPr>
            </a:pPr>
            <a:r>
              <a:rPr sz="975" b="1">
                <a:solidFill>
                  <a:srgbClr val="1DC6D8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FA7DA-224C-43C9-AC62-660CE4B9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13D"/>
                </a:solidFill>
              </a:defRPr>
            </a:pPr>
            <a:r>
              <a:rPr sz="2550" b="1">
                <a:solidFill>
                  <a:srgbClr val="10213D"/>
                </a:solidFill>
              </a:rPr>
              <a:t>Why AGI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957A8-7FE1-445F-8CEF-FC78D56C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708F"/>
                </a:solidFill>
              </a:defRPr>
            </a:pPr>
            <a:r>
              <a:rPr sz="1275" b="0">
                <a:solidFill>
                  <a:srgbClr val="57708F"/>
                </a:solidFill>
              </a:rPr>
              <a:t>If systems become broadly capable, they could expand the range of work software can perform. The same capability raises the stakes for oversight.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CE323-DBDB-4A03-AAA2-93194F4A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21D45-C99E-431F-BDA8-53D46D54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75BFF"/>
                </a:solidFill>
              </a:defRPr>
            </a:pPr>
            <a:r>
              <a:rPr sz="1650" b="1">
                <a:solidFill>
                  <a:srgbClr val="175BFF"/>
                </a:solidFill>
              </a:rPr>
              <a:t>Potential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DA684-8816-4164-9BE0-4D23129F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D65B63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D65B63"/>
                </a:solidFill>
              </a:defRPr>
            </a:pPr>
            <a:r>
              <a:rPr sz="1650" b="1">
                <a:solidFill>
                  <a:srgbClr val="D65B63"/>
                </a:solidFill>
              </a:rPr>
              <a:t>Primary concerns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8610D-C79A-4E99-B91B-40F4A42C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4D012-7F29-4DEF-8527-E59B7E30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13D"/>
                </a:solidFill>
              </a:defRPr>
            </a:pPr>
            <a:r>
              <a:rPr sz="1350" b="1">
                <a:solidFill>
                  <a:srgbClr val="10213D"/>
                </a:solidFill>
              </a:rPr>
              <a:t>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DF838-BF90-432B-B609-5B053A2E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Explore hypotheses and synthesize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DB88A-05CB-471A-BD46-07ECE17A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6956E-9341-4D62-B060-684219B0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13D"/>
                </a:solidFill>
              </a:defRPr>
            </a:pPr>
            <a:r>
              <a:rPr sz="1350" b="1">
                <a:solidFill>
                  <a:srgbClr val="10213D"/>
                </a:solidFill>
              </a:rPr>
              <a:t>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B1A1B-4DC0-461E-ACB7-19056626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Coordinate complex work across systems and teams.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5D04E-CB54-4325-8299-5225A845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90257-3849-4403-B5DA-6798ACAC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13D"/>
                </a:solidFill>
              </a:defRPr>
            </a:pPr>
            <a:r>
              <a:rPr sz="1350" b="1">
                <a:solidFill>
                  <a:srgbClr val="10213D"/>
                </a:solidFill>
              </a:rPr>
              <a:t>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E3C4A2-B7A6-4B8D-A1FA-8C824887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Provide expert-level support in more languages and settings.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AA731A-2A1B-4B68-A109-7073FE07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63"/>
          </a:solidFill>
          <a:ln xmlns:a="http://schemas.openxmlformats.org/drawingml/2006/main" w="0">
            <a:solidFill>
              <a:srgbClr val="D65B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46AF4-E54E-4ADB-9C27-933837AC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6225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13D"/>
                </a:solidFill>
              </a:defRPr>
            </a:pPr>
            <a:r>
              <a:rPr sz="1350" b="1">
                <a:solidFill>
                  <a:srgbClr val="10213D"/>
                </a:solidFill>
              </a:rPr>
              <a:t>Reliability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79D371-8434-497D-9BD1-81CB7F0A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28950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Confident errors can cause real-world harm.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40766-669F-48F9-9648-56ABD43B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63"/>
          </a:solidFill>
          <a:ln xmlns:a="http://schemas.openxmlformats.org/drawingml/2006/main" w="0">
            <a:solidFill>
              <a:srgbClr val="D65B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D38DE-3CED-4BFC-9E51-A00AAE08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62375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13D"/>
                </a:solidFill>
              </a:defRPr>
            </a:pPr>
            <a:r>
              <a:rPr sz="1350" b="1">
                <a:solidFill>
                  <a:srgbClr val="10213D"/>
                </a:solidFill>
              </a:rPr>
              <a:t>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36B09F-2AB9-4CF1-BF0A-A11AA787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29075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A powerful system needs clear boundaries and human authority.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DA52D-9A89-4119-B358-2EDE28AC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B63"/>
          </a:solidFill>
          <a:ln xmlns:a="http://schemas.openxmlformats.org/drawingml/2006/main" w="0">
            <a:solidFill>
              <a:srgbClr val="D65B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1F25A9-4CEE-48B2-B626-06FF80E1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62500"/>
            <a:ext cx="424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0213D"/>
                </a:solidFill>
              </a:defRPr>
            </a:pPr>
            <a:r>
              <a:rPr sz="1350" b="1">
                <a:solidFill>
                  <a:srgbClr val="10213D"/>
                </a:solidFill>
              </a:rPr>
              <a:t>Equity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5A28FE-EC1D-4A4A-A46A-3398BD69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29200"/>
            <a:ext cx="4248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Access, bias, and accountability require deliberate design.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931944-F7FD-413C-ABD1-7A33567D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7708F"/>
                </a:solidFill>
              </a:defRPr>
            </a:pPr>
            <a:r>
              <a:rPr sz="750" b="1">
                <a:solidFill>
                  <a:srgbClr val="57708F"/>
                </a:solidFill>
              </a:rPr>
              <a:t>INTRODUCTION TO AGI   /   05</a:t>
            </a:r>
          </a:p>
        </p:txBody>
      </p:sp>
    </p:spTree>
    <p:extLst>
      <p:ext uri="{BB962C8B-B14F-4D97-AF65-F5344CB8AC3E}">
        <p14:creationId xmlns:p14="http://schemas.microsoft.com/office/powerpoint/2010/main" val="11873739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0CE36-33B9-4EF7-9BDB-D29E66A3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DC6D8"/>
                </a:solidFill>
              </a:defRPr>
            </a:pPr>
            <a:r>
              <a:rPr sz="1050" b="1">
                <a:solidFill>
                  <a:srgbClr val="1DC6D8"/>
                </a:solidFill>
              </a:rPr>
              <a:t>CASE STUDY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4B5B5-5750-477E-9FAE-E65043A9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752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92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A hospital operations assistant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1D034-2499-47B3-BF4C-3CA6B236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752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C8D9F3"/>
                </a:solidFill>
              </a:defRPr>
            </a:pPr>
            <a:r>
              <a:rPr sz="1575" b="0">
                <a:solidFill>
                  <a:srgbClr val="C8D9F3"/>
                </a:solidFill>
              </a:rPr>
              <a:t>Illustrative scenario: a health system uses an advanced AI assistant to reduce delays in patient discharge while clinical staff retain every final decision.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CA8DA-5FD5-49AD-A993-E01EAB6A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568"/>
          </a:solidFill>
          <a:ln xmlns:a="http://schemas.openxmlformats.org/drawingml/2006/main" w="0">
            <a:solidFill>
              <a:srgbClr val="16356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385AF-CF4D-4870-864B-08A55695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DC6D8"/>
                </a:solidFill>
              </a:defRPr>
            </a:pPr>
            <a:r>
              <a:rPr sz="1275" b="1">
                <a:solidFill>
                  <a:srgbClr val="1DC6D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A935D-ACC2-4141-AA17-87C06E15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623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C565C-47DB-4DCF-81F2-98425C1A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16230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8D9F3"/>
                </a:solidFill>
              </a:defRPr>
            </a:pPr>
            <a:r>
              <a:rPr sz="1125" b="0">
                <a:solidFill>
                  <a:srgbClr val="C8D9F3"/>
                </a:solidFill>
              </a:rPr>
              <a:t>Bed status, orders, discharge notes, transport availability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84B50-C1F6-46C3-9F18-B6836357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568"/>
          </a:solidFill>
          <a:ln xmlns:a="http://schemas.openxmlformats.org/drawingml/2006/main" w="0">
            <a:solidFill>
              <a:srgbClr val="1635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B2D81-4A2A-4282-8440-2020837D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DC6D8"/>
                </a:solidFill>
              </a:defRPr>
            </a:pPr>
            <a:r>
              <a:rPr sz="1275" b="1">
                <a:solidFill>
                  <a:srgbClr val="1DC6D8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BA6C1-E634-44C2-8F99-AE56FC57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481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Reason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F18A91-38D7-4B9C-BC73-C96AFEA2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84810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8D9F3"/>
                </a:solidFill>
              </a:defRPr>
            </a:pPr>
            <a:r>
              <a:rPr sz="1125" b="0">
                <a:solidFill>
                  <a:srgbClr val="C8D9F3"/>
                </a:solidFill>
              </a:rPr>
              <a:t>Identify blockers and estimate which patients could leave safely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1CA7D-6933-4569-A0CD-94909E4B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568"/>
          </a:solidFill>
          <a:ln xmlns:a="http://schemas.openxmlformats.org/drawingml/2006/main" w="0">
            <a:solidFill>
              <a:srgbClr val="16356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A0E70-1305-41BE-BD16-F94AF252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DC6D8"/>
                </a:solidFill>
              </a:defRPr>
            </a:pPr>
            <a:r>
              <a:rPr sz="1275" b="1">
                <a:solidFill>
                  <a:srgbClr val="1DC6D8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A56C6-5238-4BCB-91FF-86CF9BF0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339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Coordinate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58603-6823-4472-B1CD-16BC80A2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53390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8D9F3"/>
                </a:solidFill>
              </a:defRPr>
            </a:pPr>
            <a:r>
              <a:rPr sz="1125" b="0">
                <a:solidFill>
                  <a:srgbClr val="C8D9F3"/>
                </a:solidFill>
              </a:rPr>
              <a:t>Draft task lists and route questions to the right teams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8F28F-07AA-4182-A019-6505D6EE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65F"/>
          </a:solidFill>
          <a:ln xmlns:a="http://schemas.openxmlformats.org/drawingml/2006/main" w="0">
            <a:solidFill>
              <a:srgbClr val="FFB65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CECDD8-84F9-456F-9046-278EC0D8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081A3A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081A3A"/>
                </a:solidFill>
              </a:defRPr>
            </a:pPr>
            <a:r>
              <a:rPr sz="1275" b="1">
                <a:solidFill>
                  <a:srgbClr val="081A3A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8F882-E406-46BD-A65A-B6D70D73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197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Escalate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16C6EE-D2A3-4541-8C5B-BE0CDCD1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21970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C8D9F3"/>
                </a:solidFill>
              </a:defRPr>
            </a:pPr>
            <a:r>
              <a:rPr sz="1125" b="0">
                <a:solidFill>
                  <a:srgbClr val="C8D9F3"/>
                </a:solidFill>
              </a:rPr>
              <a:t>Flag uncertainty, conflicting data, or high-risk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736FD8-137A-4007-889F-34342BA0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904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BCF6D4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BCF6D4"/>
                </a:solidFill>
              </a:defRPr>
            </a:pPr>
            <a:r>
              <a:rPr sz="1050" b="1">
                <a:solidFill>
                  <a:srgbClr val="BCF6D4"/>
                </a:solidFill>
              </a:rPr>
              <a:t>Human control point: clinicians approve discharge decisions and the system cannot write orders.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56A1C0-BE65-4C94-9CC5-574E8EA0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7708F"/>
                </a:solidFill>
              </a:defRPr>
            </a:pPr>
            <a:r>
              <a:rPr sz="750" b="1">
                <a:solidFill>
                  <a:srgbClr val="57708F"/>
                </a:solidFill>
              </a:rPr>
              <a:t>INTRODUCTION TO AGI   /   06</a:t>
            </a:r>
          </a:p>
        </p:txBody>
      </p:sp>
    </p:spTree>
    <p:extLst>
      <p:ext uri="{BB962C8B-B14F-4D97-AF65-F5344CB8AC3E}">
        <p14:creationId xmlns:p14="http://schemas.microsoft.com/office/powerpoint/2010/main" val="10797447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639917-7A06-4950-AFF7-55AEEFE4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C6D8"/>
                </a:solidFill>
              </a:defRPr>
            </a:pPr>
            <a:r>
              <a:rPr sz="975" b="1">
                <a:solidFill>
                  <a:srgbClr val="1DC6D8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221DFE-F257-4788-83B5-EA171385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13D"/>
                </a:solidFill>
              </a:defRPr>
            </a:pPr>
            <a:r>
              <a:rPr sz="2550" b="1">
                <a:solidFill>
                  <a:srgbClr val="10213D"/>
                </a:solidFill>
              </a:rPr>
              <a:t>Case study workflow and safeguards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4E31A-71D5-4F63-83CE-BC0A7A22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708F"/>
                </a:solidFill>
              </a:defRPr>
            </a:pPr>
            <a:r>
              <a:rPr sz="1275" b="0">
                <a:solidFill>
                  <a:srgbClr val="57708F"/>
                </a:solidFill>
              </a:rPr>
              <a:t>The assistant acts as a coordinator. Clinical accountability remains with people.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D9DEA-BE21-4024-84D5-5BDAAA0C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2FB37-07FA-417C-AB32-CC712641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223837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4822C-C21B-4771-9D0E-52B6963B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13D"/>
                </a:solidFill>
              </a:defRPr>
            </a:pPr>
            <a:r>
              <a:rPr sz="1425" b="1">
                <a:solidFill>
                  <a:srgbClr val="10213D"/>
                </a:solidFill>
              </a:rPr>
              <a:t>Data feeds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8DE98-9BCA-43CF-92A6-B2597E0C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EHR, bed board, transport, staffing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BDC52-F27F-4F7F-92E3-608418C3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33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DC6D8"/>
                </a:solidFill>
              </a:defRPr>
            </a:pPr>
            <a:r>
              <a:rPr sz="2400" b="1">
                <a:solidFill>
                  <a:srgbClr val="1DC6D8"/>
                </a:solidFill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D3A89-2C9E-4B35-95CB-6F03B9B3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62250"/>
            <a:ext cx="223837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E5FAFC"/>
          </a:solidFill>
          <a:ln xmlns:a="http://schemas.openxmlformats.org/drawingml/2006/main" w="0">
            <a:solidFill>
              <a:srgbClr val="E5FAF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5DBBE-8494-4D00-A628-8ACA1A41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00375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75BFF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75BFF"/>
                </a:solidFill>
              </a:defRPr>
            </a:pPr>
            <a:r>
              <a:rPr sz="1425" b="1">
                <a:solidFill>
                  <a:srgbClr val="175BFF"/>
                </a:solidFill>
              </a:rPr>
              <a:t>AI assistant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93027D-D89B-4C32-AA82-DE11DDEC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6710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Builds a shared view and identifies blockers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16E5B-9187-4B2E-A411-4F2BD684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DC6D8"/>
                </a:solidFill>
              </a:defRPr>
            </a:pPr>
            <a:r>
              <a:rPr sz="2400" b="1">
                <a:solidFill>
                  <a:srgbClr val="1DC6D8"/>
                </a:solidFill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3C3E1-3783-463C-950A-DB4C0DD3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223837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59EC1-2D0E-4F19-9F50-7F0CBB2A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0375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13D"/>
                </a:solidFill>
              </a:defRPr>
            </a:pPr>
            <a:r>
              <a:rPr sz="1425" b="1">
                <a:solidFill>
                  <a:srgbClr val="10213D"/>
                </a:solidFill>
              </a:rPr>
              <a:t>Human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F637A-3A37-4AE0-834C-1822A1B01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6710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Nurse, physician, case manager validate the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AE8B4-7D0F-4F37-A63C-F0396591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33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DC6D8"/>
                </a:solidFill>
              </a:defRPr>
            </a:pPr>
            <a:r>
              <a:rPr sz="2400" b="1">
                <a:solidFill>
                  <a:srgbClr val="1DC6D8"/>
                </a:solidFill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6DA849-B8F6-4EEA-9BAC-28A17F89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62250"/>
            <a:ext cx="2238375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58DB8F-DF3C-40F8-9611-94BC03C5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0375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0213D"/>
                </a:solidFill>
              </a:defRPr>
            </a:pPr>
            <a:r>
              <a:rPr sz="1425" b="1">
                <a:solidFill>
                  <a:srgbClr val="10213D"/>
                </a:solidFill>
              </a:rPr>
              <a:t>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913DCD-2B9C-41E9-9844-F62AE111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67100"/>
            <a:ext cx="1857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Teams complete tasks and update the record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00E3F9-1577-44B6-BA9D-2F632D81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13D"/>
                </a:solidFill>
              </a:defRPr>
            </a:pPr>
            <a:r>
              <a:rPr sz="1500" b="1">
                <a:solidFill>
                  <a:srgbClr val="10213D"/>
                </a:solidFill>
              </a:rPr>
              <a:t>Guardrails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4E9B4-660D-4266-B57B-9D03A045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434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DCE9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13E39D-736C-4ACA-8EC7-7B30EEA5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9107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0213D"/>
                </a:solidFill>
              </a:defRPr>
            </a:pPr>
            <a:r>
              <a:rPr sz="1050" b="1">
                <a:solidFill>
                  <a:srgbClr val="10213D"/>
                </a:solidFill>
              </a:rPr>
              <a:t>Role-based access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4BA77E-BD8B-4FA7-90A3-59F394AE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43450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DCE9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34110B-F778-4BB8-88B2-F3318D72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91075"/>
            <a:ext cx="1114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0213D"/>
                </a:solidFill>
              </a:defRPr>
            </a:pPr>
            <a:r>
              <a:rPr sz="1050" b="1">
                <a:solidFill>
                  <a:srgbClr val="10213D"/>
                </a:solidFill>
              </a:rPr>
              <a:t>Audit trail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22F1D3-15A6-4FB7-B8C4-8C0EFC81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7434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DCE9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4176EE-78C0-4CB9-93DD-EF96ED4A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7910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0213D"/>
                </a:solidFill>
              </a:defRPr>
            </a:pPr>
            <a:r>
              <a:rPr sz="1050" b="1">
                <a:solidFill>
                  <a:srgbClr val="10213D"/>
                </a:solidFill>
              </a:rPr>
              <a:t>Escalation rules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9EF469-0E1B-4F0E-AC09-2FC854CC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7434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CE9FF"/>
          </a:solidFill>
          <a:ln xmlns:a="http://schemas.openxmlformats.org/drawingml/2006/main" w="0">
            <a:solidFill>
              <a:srgbClr val="DCE9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FC7730-84F2-4655-A08D-023DD89C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7910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0213D"/>
                </a:solidFill>
              </a:defRPr>
            </a:pPr>
            <a:r>
              <a:rPr sz="1050" b="1">
                <a:solidFill>
                  <a:srgbClr val="10213D"/>
                </a:solidFill>
              </a:rPr>
              <a:t>Human approval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F50BB6-5D9E-470D-92AD-B00C5531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7708F"/>
                </a:solidFill>
              </a:defRPr>
            </a:pPr>
            <a:r>
              <a:rPr sz="750" b="1">
                <a:solidFill>
                  <a:srgbClr val="57708F"/>
                </a:solidFill>
              </a:rPr>
              <a:t>INTRODUCTION TO AGI   /   07</a:t>
            </a:r>
          </a:p>
        </p:txBody>
      </p:sp>
    </p:spTree>
    <p:extLst>
      <p:ext uri="{BB962C8B-B14F-4D97-AF65-F5344CB8AC3E}">
        <p14:creationId xmlns:p14="http://schemas.microsoft.com/office/powerpoint/2010/main" val="2327339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553D4A-F61A-4E3E-B96E-647F97D4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DC6D8"/>
                </a:solidFill>
              </a:defRPr>
            </a:pPr>
            <a:r>
              <a:rPr sz="975" b="1">
                <a:solidFill>
                  <a:srgbClr val="1DC6D8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57AB9-0E5D-429E-80FE-59F568A3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13D"/>
                </a:solidFill>
              </a:defRPr>
            </a:pPr>
            <a:r>
              <a:rPr sz="2550" b="1">
                <a:solidFill>
                  <a:srgbClr val="10213D"/>
                </a:solidFill>
              </a:rPr>
              <a:t>How to evaluate a system like this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5D05B-A61E-4C77-BD5E-CFC0C9C2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7708F"/>
                </a:solidFill>
              </a:defRPr>
            </a:pPr>
            <a:r>
              <a:rPr sz="1275" b="0">
                <a:solidFill>
                  <a:srgbClr val="57708F"/>
                </a:solidFill>
              </a:rPr>
              <a:t>A convincing demo is not enough. Teams need evidence that the system improves work without creating unacceptable risk.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1EE8C-94DB-4E0D-BE26-4A946FF1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2E989-39DE-42FF-9A67-6CB4FED6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26CCA-D1C5-4E62-AC26-7136DA74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13D"/>
                </a:solidFill>
              </a:defRPr>
            </a:pPr>
            <a:r>
              <a:rPr sz="1275" b="1">
                <a:solidFill>
                  <a:srgbClr val="10213D"/>
                </a:solidFill>
              </a:rPr>
              <a:t>Task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E1D64-279D-4A50-A67F-017076BE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26695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Does it identify the correct blocker and propose a workable next step?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BC029-8C04-4057-8BCC-EF8F2289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D"/>
          </a:solidFill>
          <a:ln xmlns:a="http://schemas.openxmlformats.org/drawingml/2006/main" w="0">
            <a:solidFill>
              <a:srgbClr val="F4F8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6C93C-2B6C-444E-A72D-09B21970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13D"/>
                </a:solidFill>
              </a:defRPr>
            </a:pPr>
            <a:r>
              <a:rPr sz="1275" b="1">
                <a:solidFill>
                  <a:srgbClr val="10213D"/>
                </a:solidFill>
              </a:rPr>
              <a:t>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2F570-745A-4C78-935F-ABF7AD1C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0099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Does it surface uncertainty and avoid unsupported recommendations?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4D533-7588-401D-B12A-A5D6CE4C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29025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DD86E-533D-42B5-A055-B5B45D71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13D"/>
                </a:solidFill>
              </a:defRPr>
            </a:pPr>
            <a:r>
              <a:rPr sz="1275" b="1">
                <a:solidFill>
                  <a:srgbClr val="10213D"/>
                </a:solidFill>
              </a:rPr>
              <a:t>Human workload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05492-BD6E-4341-8064-2DA544D7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75285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Does it reduce coordination burden without adding review overhead?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51DC7C-A329-4096-8E4C-E59C65F9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D"/>
          </a:solidFill>
          <a:ln xmlns:a="http://schemas.openxmlformats.org/drawingml/2006/main" w="0">
            <a:solidFill>
              <a:srgbClr val="F4F8F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9A5B8-E1FF-47AE-A66B-A7E4C9E4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13D"/>
                </a:solidFill>
              </a:defRPr>
            </a:pPr>
            <a:r>
              <a:rPr sz="1275" b="1">
                <a:solidFill>
                  <a:srgbClr val="10213D"/>
                </a:solidFill>
              </a:rPr>
              <a:t>Fairness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59BAC-468B-4C42-A31A-DC9E8D9D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4958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Does performance stay consistent across patient groups and care settings?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0ECC15-AA2D-4908-8DDB-EC719F5D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4925"/>
            <a:ext cx="1074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6BD41E-FB1F-4AD8-B4A9-8247B383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1">
                <a:solidFill>
                  <a:srgbClr val="10213D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0213D"/>
                </a:solidFill>
              </a:defRPr>
            </a:pPr>
            <a:r>
              <a:rPr sz="1275" b="1">
                <a:solidFill>
                  <a:srgbClr val="10213D"/>
                </a:solidFill>
              </a:rPr>
              <a:t>Operational impact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8A37B-4C15-420D-BE70-47973F6C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23875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 b="0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7708F"/>
                </a:solidFill>
              </a:defRPr>
            </a:pPr>
            <a:r>
              <a:rPr sz="1125" b="0">
                <a:solidFill>
                  <a:srgbClr val="57708F"/>
                </a:solidFill>
              </a:rPr>
              <a:t>Do discharge delays, rework, and escalations improve over time?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E18BF-E095-4583-875E-5F64C38A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7708F"/>
                </a:solidFill>
              </a:defRPr>
            </a:pPr>
            <a:r>
              <a:rPr sz="750" b="1">
                <a:solidFill>
                  <a:srgbClr val="57708F"/>
                </a:solidFill>
              </a:rPr>
              <a:t>INTRODUCTION TO AGI   /   08</a:t>
            </a:r>
          </a:p>
        </p:txBody>
      </p:sp>
    </p:spTree>
    <p:extLst>
      <p:ext uri="{BB962C8B-B14F-4D97-AF65-F5344CB8AC3E}">
        <p14:creationId xmlns:p14="http://schemas.microsoft.com/office/powerpoint/2010/main" val="9966302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CFDDF0-082F-41F1-8E8D-C7C518F3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53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1DC6D8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DC6D8"/>
                </a:solidFill>
              </a:defRPr>
            </a:pPr>
            <a:r>
              <a:rPr sz="1050" b="1">
                <a:solidFill>
                  <a:srgbClr val="1DC6D8"/>
                </a:solidFill>
              </a:rPr>
              <a:t>KEY 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D99D3-3002-4CE6-8900-7A762985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790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75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075" b="1">
                <a:solidFill>
                  <a:srgbClr val="FFFFFF"/>
                </a:solidFill>
              </a:defRPr>
            </a:pPr>
            <a:r>
              <a:rPr sz="3075" b="1">
                <a:solidFill>
                  <a:srgbClr val="FFFFFF"/>
                </a:solidFill>
              </a:rPr>
              <a:t>AGI is a direction of travel,</a:t>
            </a:r>
          </a:p>
          <a:p xmlns:a="http://schemas.openxmlformats.org/drawingml/2006/main">
            <a:pPr>
              <a:defRPr sz="3075" b="1">
                <a:solidFill>
                  <a:srgbClr val="FFFFFF"/>
                </a:solidFill>
              </a:defRPr>
            </a:pPr>
            <a:r>
              <a:rPr sz="3075" b="1">
                <a:solidFill>
                  <a:srgbClr val="FFFFFF"/>
                </a:solidFill>
              </a:rPr>
              <a:t>not a product category today.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33E87-E7D6-48C5-B4EA-D2314E6B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D27BB-13BD-486D-9111-65E525F5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Definition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62AC3-A481-4F61-969A-14F95719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956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8D9F3"/>
                </a:solidFill>
              </a:defRPr>
            </a:pPr>
            <a:r>
              <a:rPr sz="1275" b="0">
                <a:solidFill>
                  <a:srgbClr val="C8D9F3"/>
                </a:solidFill>
              </a:rPr>
              <a:t>Broad, adaptive competence across domains.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A2526-E912-4363-9A1F-78A55586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C6D8"/>
          </a:solidFill>
          <a:ln xmlns:a="http://schemas.openxmlformats.org/drawingml/2006/main" w="0">
            <a:solidFill>
              <a:srgbClr val="1DC6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0FA94-5952-45CE-A0CC-D1A98904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Near-term focus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1A966-5A4F-4E2F-85F2-D95FB8C0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86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8D9F3"/>
                </a:solidFill>
              </a:defRPr>
            </a:pPr>
            <a:r>
              <a:rPr sz="1275" b="0">
                <a:solidFill>
                  <a:srgbClr val="C8D9F3"/>
                </a:solidFill>
              </a:rPr>
              <a:t>Build useful agents with limits, oversight, and evaluation.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44C85-7108-4582-9E17-549300DB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114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84B"/>
          </a:solidFill>
          <a:ln xmlns:a="http://schemas.openxmlformats.org/drawingml/2006/main" w="0">
            <a:solidFill>
              <a:srgbClr val="FFA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A2089-C750-46EA-86A7-85FAB99D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767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Case-study lesson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5C730-84B7-47C8-B7B9-F7A7C706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7677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C8D9F3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8D9F3"/>
                </a:solidFill>
              </a:defRPr>
            </a:pPr>
            <a:r>
              <a:rPr sz="1275" b="0">
                <a:solidFill>
                  <a:srgbClr val="C8D9F3"/>
                </a:solidFill>
              </a:rPr>
              <a:t>Give AI coordination work first. Keep high-stakes decisions with accountable people.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BDE9B-3F54-4A51-8BDE-FBC3D241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BCF6D4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BCF6D4"/>
                </a:solidFill>
              </a:defRPr>
            </a:pPr>
            <a:r>
              <a:rPr sz="1350" b="1">
                <a:solidFill>
                  <a:srgbClr val="BCF6D4"/>
                </a:solidFill>
              </a:rPr>
              <a:t>Discussion: Where would broader AI capability create value in your organization, and where must human authority remain?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1373F-BFED-40E1-B65E-65981A97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3143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750" b="1">
                <a:solidFill>
                  <a:srgbClr val="57708F"/>
                </a:solidFill>
              </a:defRPr>
            </a:defPPr>
          </a:lstStyle>
          <a:p xmlns:a="http://schemas.openxmlformats.org/drawingml/2006/main">
            <a:pPr>
              <a:defRPr sz="750" b="1">
                <a:solidFill>
                  <a:srgbClr val="57708F"/>
                </a:solidFill>
              </a:defRPr>
            </a:pPr>
            <a:r>
              <a:rPr sz="750" b="1">
                <a:solidFill>
                  <a:srgbClr val="57708F"/>
                </a:solidFill>
              </a:rPr>
              <a:t>INTRODUCTION TO AGI   /   09</a:t>
            </a:r>
          </a:p>
        </p:txBody>
      </p:sp>
    </p:spTree>
    <p:extLst>
      <p:ext uri="{BB962C8B-B14F-4D97-AF65-F5344CB8AC3E}">
        <p14:creationId xmlns:p14="http://schemas.microsoft.com/office/powerpoint/2010/main" val="1243668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2026-10-10T11:51:11.7150000Z</dcterms:created>
  <dcterms:modified xsi:type="dcterms:W3CDTF">2026-10-10T11:51:11.7150000Z</dcterms:modified>
</coreProperties>
</file>